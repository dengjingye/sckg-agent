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658368" y="658368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3400" b="1">
                <a:solidFill>
                  <a:srgbClr val="0F172A"/>
                </a:solidFill>
                <a:latin typeface="Microsoft YaHei"/>
                <a:ea typeface="Microsoft YaHei"/>
              </a:rPr>
              <a:t>scKG-Atlas Agent</a:t>
            </a:r>
            <a:endParaRPr lang="zh-CN" sz="3400"/>
          </a:p>
        </p:txBody>
      </p:sp>
      <p:sp>
        <p:nvSpPr>
          <p:cNvPr id="5" name="Text"/>
          <p:cNvSpPr txBox="1"/>
          <p:nvPr/>
        </p:nvSpPr>
        <p:spPr>
          <a:xfrm>
            <a:off x="685800" y="1389888"/>
            <a:ext cx="81381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600">
                <a:solidFill>
                  <a:srgbClr val="334155"/>
                </a:solidFill>
                <a:latin typeface="Microsoft YaHei"/>
                <a:ea typeface="Microsoft YaHei"/>
              </a:rPr>
              <a:t>面向单细胞、空间组学与多组学工具选择的证据治理型科研 Agent</a:t>
            </a:r>
            <a:endParaRPr lang="zh-CN" sz="1600"/>
          </a:p>
        </p:txBody>
      </p:sp>
      <p:sp>
        <p:nvSpPr>
          <p:cNvPr id="6" name="Text"/>
          <p:cNvSpPr txBox="1"/>
          <p:nvPr/>
        </p:nvSpPr>
        <p:spPr>
          <a:xfrm>
            <a:off x="713232" y="1901952"/>
            <a:ext cx="7818120" cy="12252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研究背景与意义：组学分析工具快速增长，文献、benchmark、协议和代码证据分散；普通 LLM 容易把候选材料、GitHub 活跃度或相似工具误说成强推荐。</a:t>
            </a:r>
            <a:endParaRPr lang="zh-CN" sz="12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200">
                <a:solidFill>
                  <a:srgbClr val="0F172A"/>
                </a:solidFill>
                <a:latin typeface="Microsoft YaHei"/>
                <a:ea typeface="Microsoft YaHei"/>
              </a:rPr>
              <a:t>项目定位：不是无限制聊天机器人，而是把科研请求转成结构化约束，经证据门控、可信排序、报告生成和语义幻觉审计后，输出可追溯、保守、可复核的推荐或探索性迁移假设。</a:t>
            </a:r>
            <a:endParaRPr lang="zh-CN" sz="1200"/>
          </a:p>
        </p:txBody>
      </p:sp>
      <p:sp>
        <p:nvSpPr>
          <p:cNvPr id="7" name="Text"/>
          <p:cNvSpPr txBox="1"/>
          <p:nvPr/>
        </p:nvSpPr>
        <p:spPr>
          <a:xfrm>
            <a:off x="713232" y="3456432"/>
            <a:ext cx="18745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8" name="Shape"/>
          <p:cNvSpPr/>
          <p:nvPr/>
        </p:nvSpPr>
        <p:spPr>
          <a:xfrm>
            <a:off x="713232" y="3456432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877824" y="3566160"/>
            <a:ext cx="16184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2563EB"/>
                </a:solidFill>
                <a:latin typeface="Microsoft YaHei"/>
                <a:ea typeface="Microsoft YaHei"/>
              </a:rPr>
              <a:t>1,842</a:t>
            </a:r>
            <a:endParaRPr lang="zh-CN" sz="2200"/>
          </a:p>
        </p:txBody>
      </p:sp>
      <p:sp>
        <p:nvSpPr>
          <p:cNvPr id="10" name="Text"/>
          <p:cNvSpPr txBox="1"/>
          <p:nvPr/>
        </p:nvSpPr>
        <p:spPr>
          <a:xfrm>
            <a:off x="877824" y="3941064"/>
            <a:ext cx="161848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工具目录记录</a:t>
            </a:r>
            <a:endParaRPr lang="zh-CN" sz="1000"/>
          </a:p>
        </p:txBody>
      </p:sp>
      <p:sp>
        <p:nvSpPr>
          <p:cNvPr id="11" name="Text"/>
          <p:cNvSpPr txBox="1"/>
          <p:nvPr/>
        </p:nvSpPr>
        <p:spPr>
          <a:xfrm>
            <a:off x="2761488" y="3456432"/>
            <a:ext cx="19933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2" name="Shape"/>
          <p:cNvSpPr/>
          <p:nvPr/>
        </p:nvSpPr>
        <p:spPr>
          <a:xfrm>
            <a:off x="2761488" y="3456432"/>
            <a:ext cx="73152" cy="841248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2926080" y="356616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59669"/>
                </a:solidFill>
                <a:latin typeface="Microsoft YaHei"/>
                <a:ea typeface="Microsoft YaHei"/>
              </a:rPr>
              <a:t>28</a:t>
            </a:r>
            <a:endParaRPr lang="zh-CN" sz="2200"/>
          </a:p>
        </p:txBody>
      </p:sp>
      <p:sp>
        <p:nvSpPr>
          <p:cNvPr id="14" name="Text"/>
          <p:cNvSpPr txBox="1"/>
          <p:nvPr/>
        </p:nvSpPr>
        <p:spPr>
          <a:xfrm>
            <a:off x="2926080" y="3941064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正式 publication evidence</a:t>
            </a:r>
            <a:endParaRPr lang="zh-CN" sz="1000"/>
          </a:p>
        </p:txBody>
      </p:sp>
      <p:sp>
        <p:nvSpPr>
          <p:cNvPr id="15" name="Text"/>
          <p:cNvSpPr txBox="1"/>
          <p:nvPr/>
        </p:nvSpPr>
        <p:spPr>
          <a:xfrm>
            <a:off x="4919472" y="3456432"/>
            <a:ext cx="19933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6" name="Shape"/>
          <p:cNvSpPr/>
          <p:nvPr/>
        </p:nvSpPr>
        <p:spPr>
          <a:xfrm>
            <a:off x="4919472" y="3456432"/>
            <a:ext cx="73152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5084064" y="356616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D97706"/>
                </a:solidFill>
                <a:latin typeface="Microsoft YaHei"/>
                <a:ea typeface="Microsoft YaHei"/>
              </a:rPr>
              <a:t>14</a:t>
            </a:r>
            <a:endParaRPr lang="zh-CN" sz="2200"/>
          </a:p>
        </p:txBody>
      </p:sp>
      <p:sp>
        <p:nvSpPr>
          <p:cNvPr id="18" name="Text"/>
          <p:cNvSpPr txBox="1"/>
          <p:nvPr/>
        </p:nvSpPr>
        <p:spPr>
          <a:xfrm>
            <a:off x="5084064" y="3941064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正式 benchmark evidence</a:t>
            </a:r>
            <a:endParaRPr lang="zh-CN" sz="1000"/>
          </a:p>
        </p:txBody>
      </p:sp>
      <p:sp>
        <p:nvSpPr>
          <p:cNvPr id="19" name="Text"/>
          <p:cNvSpPr txBox="1"/>
          <p:nvPr/>
        </p:nvSpPr>
        <p:spPr>
          <a:xfrm>
            <a:off x="7077456" y="3456432"/>
            <a:ext cx="19933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20" name="Shape"/>
          <p:cNvSpPr/>
          <p:nvPr/>
        </p:nvSpPr>
        <p:spPr>
          <a:xfrm>
            <a:off x="7077456" y="3456432"/>
            <a:ext cx="73152" cy="841248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7242048" y="356616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7C3AED"/>
                </a:solidFill>
                <a:latin typeface="Microsoft YaHei"/>
                <a:ea typeface="Microsoft YaHei"/>
              </a:rPr>
              <a:t>42</a:t>
            </a:r>
            <a:endParaRPr lang="zh-CN" sz="2200"/>
          </a:p>
        </p:txBody>
      </p:sp>
      <p:sp>
        <p:nvSpPr>
          <p:cNvPr id="22" name="Text"/>
          <p:cNvSpPr txBox="1"/>
          <p:nvPr/>
        </p:nvSpPr>
        <p:spPr>
          <a:xfrm>
            <a:off x="7242048" y="3941064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候选/审阅队列 TSV</a:t>
            </a:r>
            <a:endParaRPr lang="zh-CN" sz="1000"/>
          </a:p>
        </p:txBody>
      </p:sp>
      <p:sp>
        <p:nvSpPr>
          <p:cNvPr id="23" name="Text"/>
          <p:cNvSpPr txBox="1"/>
          <p:nvPr/>
        </p:nvSpPr>
        <p:spPr>
          <a:xfrm>
            <a:off x="749808" y="4645152"/>
            <a:ext cx="7863840" cy="7498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txBody>
          <a:bodyPr wrap="square" anchor="t" lIns="73152" rIns="73152" tIns="73152" bIns="73152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100">
                <a:solidFill>
                  <a:srgbClr val="475569"/>
                </a:solidFill>
                <a:latin typeface="Microsoft YaHei"/>
                <a:ea typeface="Microsoft YaHei"/>
              </a:rPr>
              <a:t>核心价值：把“能回答”升级为“有证据、能解释、可审计”。</a:t>
            </a:r>
            <a:endParaRPr lang="zh-CN" sz="11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100">
                <a:solidFill>
                  <a:srgbClr val="475569"/>
                </a:solidFill>
                <a:latin typeface="Microsoft YaHei"/>
                <a:ea typeface="Microsoft YaHei"/>
              </a:rPr>
              <a:t>治理原则：candidate-only 证据不自动进入正式推荐；弱证据必须降级并显式暴露不确定性。</a:t>
            </a:r>
            <a:endParaRPr lang="zh-CN" sz="1100"/>
          </a:p>
        </p:txBody>
      </p:sp>
      <p:pic>
        <p:nvPicPr>
          <p:cNvPr id="24" name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804672"/>
            <a:ext cx="2148840" cy="1417320"/>
          </a:xfrm>
          <a:prstGeom prst="rect">
            <a:avLst/>
          </a:prstGeom>
        </p:spPr>
      </p:pic>
      <p:sp>
        <p:nvSpPr>
          <p:cNvPr id="25" name="Text"/>
          <p:cNvSpPr txBox="1"/>
          <p:nvPr/>
        </p:nvSpPr>
        <p:spPr>
          <a:xfrm>
            <a:off x="8732520" y="629107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材料版本：本地仓库快照 2026-05-24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Header title"/>
          <p:cNvSpPr txBox="1"/>
          <p:nvPr/>
        </p:nvSpPr>
        <p:spPr>
          <a:xfrm>
            <a:off x="347472" y="20116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F172A"/>
                </a:solidFill>
                <a:latin typeface="Microsoft YaHei"/>
                <a:ea typeface="Microsoft YaHei"/>
              </a:rPr>
              <a:t>研究目标与内容</a:t>
            </a:r>
            <a:endParaRPr lang="zh-CN" sz="2200"/>
          </a:p>
        </p:txBody>
      </p:sp>
      <p:sp>
        <p:nvSpPr>
          <p:cNvPr id="4" name="Text"/>
          <p:cNvSpPr txBox="1"/>
          <p:nvPr/>
        </p:nvSpPr>
        <p:spPr>
          <a:xfrm>
            <a:off x="8412480" y="228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从科研问题到证据约束推荐</a:t>
            </a:r>
            <a:endParaRPr lang="zh-CN" sz="900"/>
          </a:p>
        </p:txBody>
      </p:sp>
      <p:sp>
        <p:nvSpPr>
          <p:cNvPr id="5" name="Text"/>
          <p:cNvSpPr txBox="1"/>
          <p:nvPr/>
        </p:nvSpPr>
        <p:spPr>
          <a:xfrm>
            <a:off x="11247120" y="21945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02/08</a:t>
            </a:r>
            <a:endParaRPr lang="zh-CN" sz="1000"/>
          </a:p>
        </p:txBody>
      </p:sp>
      <p:sp>
        <p:nvSpPr>
          <p:cNvPr id="6" name="Text"/>
          <p:cNvSpPr txBox="1"/>
          <p:nvPr/>
        </p:nvSpPr>
        <p:spPr>
          <a:xfrm>
            <a:off x="502920" y="868680"/>
            <a:ext cx="5166360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7" name="Shape"/>
          <p:cNvSpPr/>
          <p:nvPr/>
        </p:nvSpPr>
        <p:spPr>
          <a:xfrm>
            <a:off x="502920" y="868680"/>
            <a:ext cx="73152" cy="18745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704088" y="1024128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总目标</a:t>
            </a:r>
            <a:endParaRPr lang="zh-CN" sz="1400"/>
          </a:p>
        </p:txBody>
      </p:sp>
      <p:sp>
        <p:nvSpPr>
          <p:cNvPr id="9" name="Text"/>
          <p:cNvSpPr txBox="1"/>
          <p:nvPr/>
        </p:nvSpPr>
        <p:spPr>
          <a:xfrm>
            <a:off x="704088" y="1435608"/>
            <a:ext cx="4846320" cy="12161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构建证据治理型 Agent：理解任务、检索可信证据、保守排序、生成可审计报告。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在证据不足时输出缺口、澄清问题或探索性迁移假设，而不是伪造强结论。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形成可复现评估协议，持续量化推荐质量、幻觉风险和迁移边界。</a:t>
            </a:r>
            <a:endParaRPr lang="zh-CN" sz="1000"/>
          </a:p>
        </p:txBody>
      </p:sp>
      <p:sp>
        <p:nvSpPr>
          <p:cNvPr id="10" name="Text"/>
          <p:cNvSpPr txBox="1"/>
          <p:nvPr/>
        </p:nvSpPr>
        <p:spPr>
          <a:xfrm>
            <a:off x="5989320" y="868680"/>
            <a:ext cx="566928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1" name="Shape"/>
          <p:cNvSpPr/>
          <p:nvPr/>
        </p:nvSpPr>
        <p:spPr>
          <a:xfrm>
            <a:off x="5989320" y="868680"/>
            <a:ext cx="73152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6190488" y="1024128"/>
            <a:ext cx="53492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研究内容</a:t>
            </a:r>
            <a:endParaRPr lang="zh-CN" sz="1400"/>
          </a:p>
        </p:txBody>
      </p:sp>
      <p:sp>
        <p:nvSpPr>
          <p:cNvPr id="13" name="Text"/>
          <p:cNvSpPr txBox="1"/>
          <p:nvPr/>
        </p:nvSpPr>
        <p:spPr>
          <a:xfrm>
            <a:off x="6190488" y="1435608"/>
            <a:ext cx="5349240" cy="1764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任务解析：task / modality / platform / data object / scale / noise / hardware / species。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证据体系：正式 publication、benchmark、workflow/protocol 与候选 review packet 分层。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推荐模型：evidence gate + trusted_core filtering + MCDM top-k。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安全报告：EvidenceContextPack + prompt policy + semantic hallucination auditor。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探索模块：算法迁移只输出 MigrationHypothesis，不进入正式推荐 top-k。</a:t>
            </a:r>
            <a:endParaRPr lang="zh-CN" sz="1000"/>
          </a:p>
        </p:txBody>
      </p:sp>
      <p:sp>
        <p:nvSpPr>
          <p:cNvPr id="14" name="Text"/>
          <p:cNvSpPr txBox="1"/>
          <p:nvPr/>
        </p:nvSpPr>
        <p:spPr>
          <a:xfrm>
            <a:off x="530352" y="31821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研究问题拆解</a:t>
            </a:r>
            <a:endParaRPr lang="zh-CN" sz="1400"/>
          </a:p>
        </p:txBody>
      </p:sp>
      <p:sp>
        <p:nvSpPr>
          <p:cNvPr id="15" name="Text"/>
          <p:cNvSpPr txBox="1"/>
          <p:nvPr/>
        </p:nvSpPr>
        <p:spPr>
          <a:xfrm>
            <a:off x="658368" y="3657600"/>
            <a:ext cx="2212848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300" b="1">
                <a:solidFill>
                  <a:srgbClr val="2563EB"/>
                </a:solidFill>
                <a:latin typeface="Microsoft YaHei"/>
                <a:ea typeface="Microsoft YaHei"/>
              </a:rPr>
              <a:t>用户需求</a:t>
            </a:r>
            <a:endParaRPr lang="zh-CN" sz="1300"/>
          </a:p>
        </p:txBody>
      </p:sp>
      <p:sp>
        <p:nvSpPr>
          <p:cNvPr id="16" name="Text"/>
          <p:cNvSpPr txBox="1"/>
          <p:nvPr/>
        </p:nvSpPr>
        <p:spPr>
          <a:xfrm>
            <a:off x="658368" y="4041648"/>
            <a:ext cx="2212848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模糊自然语言、实验条件不完整</a:t>
            </a:r>
            <a:endParaRPr lang="zh-CN" sz="900"/>
          </a:p>
        </p:txBody>
      </p:sp>
      <p:sp>
        <p:nvSpPr>
          <p:cNvPr id="17" name="Text"/>
          <p:cNvSpPr txBox="1"/>
          <p:nvPr/>
        </p:nvSpPr>
        <p:spPr>
          <a:xfrm>
            <a:off x="2926080" y="38404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18" name="Text"/>
          <p:cNvSpPr txBox="1"/>
          <p:nvPr/>
        </p:nvSpPr>
        <p:spPr>
          <a:xfrm>
            <a:off x="3447288" y="3657600"/>
            <a:ext cx="2212848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300" b="1">
                <a:solidFill>
                  <a:srgbClr val="059669"/>
                </a:solidFill>
                <a:latin typeface="Microsoft YaHei"/>
                <a:ea typeface="Microsoft YaHei"/>
              </a:rPr>
              <a:t>证据约束</a:t>
            </a:r>
            <a:endParaRPr lang="zh-CN" sz="1300"/>
          </a:p>
        </p:txBody>
      </p:sp>
      <p:sp>
        <p:nvSpPr>
          <p:cNvPr id="19" name="Text"/>
          <p:cNvSpPr txBox="1"/>
          <p:nvPr/>
        </p:nvSpPr>
        <p:spPr>
          <a:xfrm>
            <a:off x="3447288" y="4041648"/>
            <a:ext cx="2212848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哪些证据可用于推荐，哪些只能解释</a:t>
            </a:r>
            <a:endParaRPr lang="zh-CN" sz="900"/>
          </a:p>
        </p:txBody>
      </p:sp>
      <p:sp>
        <p:nvSpPr>
          <p:cNvPr id="20" name="Text"/>
          <p:cNvSpPr txBox="1"/>
          <p:nvPr/>
        </p:nvSpPr>
        <p:spPr>
          <a:xfrm>
            <a:off x="5715000" y="38404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21" name="Text"/>
          <p:cNvSpPr txBox="1"/>
          <p:nvPr/>
        </p:nvSpPr>
        <p:spPr>
          <a:xfrm>
            <a:off x="6236208" y="3657600"/>
            <a:ext cx="2212848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300" b="1">
                <a:solidFill>
                  <a:srgbClr val="D97706"/>
                </a:solidFill>
                <a:latin typeface="Microsoft YaHei"/>
                <a:ea typeface="Microsoft YaHei"/>
              </a:rPr>
              <a:t>工具排序</a:t>
            </a:r>
            <a:endParaRPr lang="zh-CN" sz="1300"/>
          </a:p>
        </p:txBody>
      </p:sp>
      <p:sp>
        <p:nvSpPr>
          <p:cNvPr id="22" name="Text"/>
          <p:cNvSpPr txBox="1"/>
          <p:nvPr/>
        </p:nvSpPr>
        <p:spPr>
          <a:xfrm>
            <a:off x="6236208" y="4041648"/>
            <a:ext cx="2212848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多指标、缺证据、任务适配冲突</a:t>
            </a:r>
            <a:endParaRPr lang="zh-CN" sz="900"/>
          </a:p>
        </p:txBody>
      </p:sp>
      <p:sp>
        <p:nvSpPr>
          <p:cNvPr id="23" name="Text"/>
          <p:cNvSpPr txBox="1"/>
          <p:nvPr/>
        </p:nvSpPr>
        <p:spPr>
          <a:xfrm>
            <a:off x="8503920" y="38404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24" name="Text"/>
          <p:cNvSpPr txBox="1"/>
          <p:nvPr/>
        </p:nvSpPr>
        <p:spPr>
          <a:xfrm>
            <a:off x="9025128" y="3657600"/>
            <a:ext cx="2212848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300" b="1">
                <a:solidFill>
                  <a:srgbClr val="DC2626"/>
                </a:solidFill>
                <a:latin typeface="Microsoft YaHei"/>
                <a:ea typeface="Microsoft YaHei"/>
              </a:rPr>
              <a:t>报告安全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9025128" y="4041648"/>
            <a:ext cx="2212848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限制 unsupported claims 和工具幻觉</a:t>
            </a:r>
            <a:endParaRPr lang="zh-CN" sz="900"/>
          </a:p>
        </p:txBody>
      </p:sp>
      <p:sp>
        <p:nvSpPr>
          <p:cNvPr id="26" name="Text"/>
          <p:cNvSpPr txBox="1"/>
          <p:nvPr/>
        </p:nvSpPr>
        <p:spPr>
          <a:xfrm>
            <a:off x="502920" y="4956048"/>
            <a:ext cx="1115568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27" name="Shape"/>
          <p:cNvSpPr/>
          <p:nvPr/>
        </p:nvSpPr>
        <p:spPr>
          <a:xfrm>
            <a:off x="502920" y="4956048"/>
            <a:ext cx="73152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704088" y="5111496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预期产出</a:t>
            </a:r>
            <a:endParaRPr lang="zh-CN" sz="1400"/>
          </a:p>
        </p:txBody>
      </p:sp>
      <p:sp>
        <p:nvSpPr>
          <p:cNvPr id="29" name="Text"/>
          <p:cNvSpPr txBox="1"/>
          <p:nvPr/>
        </p:nvSpPr>
        <p:spPr>
          <a:xfrm>
            <a:off x="704088" y="5522976"/>
            <a:ext cx="108356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面向单细胞/空间组学工具选择的可追溯推荐原型。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正式证据表、候选证据隔离区、审阅动作队列与 KG 质量审计。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封闭 gold set、离线预测、消融对照和 hallucination audit 指标体系。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Header title"/>
          <p:cNvSpPr txBox="1"/>
          <p:nvPr/>
        </p:nvSpPr>
        <p:spPr>
          <a:xfrm>
            <a:off x="347472" y="20116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F172A"/>
                </a:solidFill>
                <a:latin typeface="Microsoft YaHei"/>
                <a:ea typeface="Microsoft YaHei"/>
              </a:rPr>
              <a:t>系统架构与研究方案</a:t>
            </a:r>
            <a:endParaRPr lang="zh-CN" sz="2200"/>
          </a:p>
        </p:txBody>
      </p:sp>
      <p:sp>
        <p:nvSpPr>
          <p:cNvPr id="4" name="Text"/>
          <p:cNvSpPr txBox="1"/>
          <p:nvPr/>
        </p:nvSpPr>
        <p:spPr>
          <a:xfrm>
            <a:off x="8412480" y="228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窄推荐主路 + 可控 Hybrid KG-RAG</a:t>
            </a:r>
            <a:endParaRPr lang="zh-CN" sz="900"/>
          </a:p>
        </p:txBody>
      </p:sp>
      <p:sp>
        <p:nvSpPr>
          <p:cNvPr id="5" name="Text"/>
          <p:cNvSpPr txBox="1"/>
          <p:nvPr/>
        </p:nvSpPr>
        <p:spPr>
          <a:xfrm>
            <a:off x="11247120" y="21945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03/08</a:t>
            </a:r>
            <a:endParaRPr lang="zh-CN" sz="1000"/>
          </a:p>
        </p:txBody>
      </p:sp>
      <p:sp>
        <p:nvSpPr>
          <p:cNvPr id="6" name="Text"/>
          <p:cNvSpPr txBox="1"/>
          <p:nvPr/>
        </p:nvSpPr>
        <p:spPr>
          <a:xfrm>
            <a:off x="566928" y="822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主推荐路径</a:t>
            </a:r>
            <a:endParaRPr lang="zh-CN" sz="1400"/>
          </a:p>
        </p:txBody>
      </p:sp>
      <p:sp>
        <p:nvSpPr>
          <p:cNvPr id="7" name="Text"/>
          <p:cNvSpPr txBox="1"/>
          <p:nvPr/>
        </p:nvSpPr>
        <p:spPr>
          <a:xfrm>
            <a:off x="530352" y="1261872"/>
            <a:ext cx="1508760" cy="38404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raw retrieval</a:t>
            </a:r>
            <a:endParaRPr lang="zh-CN" sz="1000"/>
          </a:p>
        </p:txBody>
      </p:sp>
      <p:sp>
        <p:nvSpPr>
          <p:cNvPr id="8" name="Text"/>
          <p:cNvSpPr txBox="1"/>
          <p:nvPr/>
        </p:nvSpPr>
        <p:spPr>
          <a:xfrm>
            <a:off x="530352" y="1700784"/>
            <a:ext cx="150876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大召回，不直接推荐</a:t>
            </a:r>
            <a:endParaRPr lang="zh-CN" sz="800"/>
          </a:p>
        </p:txBody>
      </p:sp>
      <p:sp>
        <p:nvSpPr>
          <p:cNvPr id="9" name="Text"/>
          <p:cNvSpPr txBox="1"/>
          <p:nvPr/>
        </p:nvSpPr>
        <p:spPr>
          <a:xfrm>
            <a:off x="2048256" y="1389888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10" name="Text"/>
          <p:cNvSpPr txBox="1"/>
          <p:nvPr/>
        </p:nvSpPr>
        <p:spPr>
          <a:xfrm>
            <a:off x="2450592" y="1261872"/>
            <a:ext cx="1508760" cy="38404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evidence gate</a:t>
            </a:r>
            <a:endParaRPr lang="zh-CN" sz="1000"/>
          </a:p>
        </p:txBody>
      </p:sp>
      <p:sp>
        <p:nvSpPr>
          <p:cNvPr id="11" name="Text"/>
          <p:cNvSpPr txBox="1"/>
          <p:nvPr/>
        </p:nvSpPr>
        <p:spPr>
          <a:xfrm>
            <a:off x="2450592" y="1700784"/>
            <a:ext cx="150876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过滤非推荐级证据</a:t>
            </a:r>
            <a:endParaRPr lang="zh-CN" sz="800"/>
          </a:p>
        </p:txBody>
      </p:sp>
      <p:sp>
        <p:nvSpPr>
          <p:cNvPr id="12" name="Text"/>
          <p:cNvSpPr txBox="1"/>
          <p:nvPr/>
        </p:nvSpPr>
        <p:spPr>
          <a:xfrm>
            <a:off x="3968496" y="1389888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13" name="Text"/>
          <p:cNvSpPr txBox="1"/>
          <p:nvPr/>
        </p:nvSpPr>
        <p:spPr>
          <a:xfrm>
            <a:off x="4370832" y="1261872"/>
            <a:ext cx="1508760" cy="38404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trusted_core</a:t>
            </a:r>
            <a:endParaRPr lang="zh-CN" sz="1000"/>
          </a:p>
        </p:txBody>
      </p:sp>
      <p:sp>
        <p:nvSpPr>
          <p:cNvPr id="14" name="Text"/>
          <p:cNvSpPr txBox="1"/>
          <p:nvPr/>
        </p:nvSpPr>
        <p:spPr>
          <a:xfrm>
            <a:off x="4370832" y="1700784"/>
            <a:ext cx="150876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正式/审阅证据进入上下文</a:t>
            </a:r>
            <a:endParaRPr lang="zh-CN" sz="800"/>
          </a:p>
        </p:txBody>
      </p:sp>
      <p:sp>
        <p:nvSpPr>
          <p:cNvPr id="15" name="Text"/>
          <p:cNvSpPr txBox="1"/>
          <p:nvPr/>
        </p:nvSpPr>
        <p:spPr>
          <a:xfrm>
            <a:off x="5888736" y="1389888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16" name="Text"/>
          <p:cNvSpPr txBox="1"/>
          <p:nvPr/>
        </p:nvSpPr>
        <p:spPr>
          <a:xfrm>
            <a:off x="6291072" y="1261872"/>
            <a:ext cx="1508760" cy="38404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top-k ranking</a:t>
            </a:r>
            <a:endParaRPr lang="zh-CN" sz="1000"/>
          </a:p>
        </p:txBody>
      </p:sp>
      <p:sp>
        <p:nvSpPr>
          <p:cNvPr id="17" name="Text"/>
          <p:cNvSpPr txBox="1"/>
          <p:nvPr/>
        </p:nvSpPr>
        <p:spPr>
          <a:xfrm>
            <a:off x="6291072" y="1700784"/>
            <a:ext cx="150876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MCDM 保守排序</a:t>
            </a:r>
            <a:endParaRPr lang="zh-CN" sz="800"/>
          </a:p>
        </p:txBody>
      </p:sp>
      <p:sp>
        <p:nvSpPr>
          <p:cNvPr id="18" name="Text"/>
          <p:cNvSpPr txBox="1"/>
          <p:nvPr/>
        </p:nvSpPr>
        <p:spPr>
          <a:xfrm>
            <a:off x="7808976" y="1389888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19" name="Text"/>
          <p:cNvSpPr txBox="1"/>
          <p:nvPr/>
        </p:nvSpPr>
        <p:spPr>
          <a:xfrm>
            <a:off x="8211312" y="1261872"/>
            <a:ext cx="1508760" cy="38404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report</a:t>
            </a:r>
            <a:endParaRPr lang="zh-CN" sz="1000"/>
          </a:p>
        </p:txBody>
      </p:sp>
      <p:sp>
        <p:nvSpPr>
          <p:cNvPr id="20" name="Text"/>
          <p:cNvSpPr txBox="1"/>
          <p:nvPr/>
        </p:nvSpPr>
        <p:spPr>
          <a:xfrm>
            <a:off x="8211312" y="1700784"/>
            <a:ext cx="150876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受 policy 约束生成</a:t>
            </a:r>
            <a:endParaRPr lang="zh-CN" sz="800"/>
          </a:p>
        </p:txBody>
      </p:sp>
      <p:sp>
        <p:nvSpPr>
          <p:cNvPr id="21" name="Text"/>
          <p:cNvSpPr txBox="1"/>
          <p:nvPr/>
        </p:nvSpPr>
        <p:spPr>
          <a:xfrm>
            <a:off x="9729216" y="1389888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 lang="zh-CN" sz="1800"/>
          </a:p>
        </p:txBody>
      </p:sp>
      <p:sp>
        <p:nvSpPr>
          <p:cNvPr id="22" name="Text"/>
          <p:cNvSpPr txBox="1"/>
          <p:nvPr/>
        </p:nvSpPr>
        <p:spPr>
          <a:xfrm>
            <a:off x="10131552" y="1261872"/>
            <a:ext cx="1508760" cy="38404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BFDBFE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audit</a:t>
            </a:r>
            <a:endParaRPr lang="zh-CN" sz="1000"/>
          </a:p>
        </p:txBody>
      </p:sp>
      <p:sp>
        <p:nvSpPr>
          <p:cNvPr id="23" name="Text"/>
          <p:cNvSpPr txBox="1"/>
          <p:nvPr/>
        </p:nvSpPr>
        <p:spPr>
          <a:xfrm>
            <a:off x="10131552" y="1700784"/>
            <a:ext cx="150876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高危幻觉阻断</a:t>
            </a:r>
            <a:endParaRPr lang="zh-CN" sz="800"/>
          </a:p>
        </p:txBody>
      </p:sp>
      <p:sp>
        <p:nvSpPr>
          <p:cNvPr id="24" name="Text"/>
          <p:cNvSpPr txBox="1"/>
          <p:nvPr/>
        </p:nvSpPr>
        <p:spPr>
          <a:xfrm>
            <a:off x="566928" y="2487168"/>
            <a:ext cx="35204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25" name="Shape"/>
          <p:cNvSpPr/>
          <p:nvPr/>
        </p:nvSpPr>
        <p:spPr>
          <a:xfrm>
            <a:off x="566928" y="2487168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"/>
          <p:cNvSpPr txBox="1"/>
          <p:nvPr/>
        </p:nvSpPr>
        <p:spPr>
          <a:xfrm>
            <a:off x="768096" y="2642616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KG 的职责</a:t>
            </a:r>
            <a:endParaRPr lang="zh-CN" sz="1400"/>
          </a:p>
        </p:txBody>
      </p:sp>
      <p:sp>
        <p:nvSpPr>
          <p:cNvPr id="27" name="Text"/>
          <p:cNvSpPr txBox="1"/>
          <p:nvPr/>
        </p:nvSpPr>
        <p:spPr>
          <a:xfrm>
            <a:off x="768096" y="3054096"/>
            <a:ext cx="320040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结构化工具-任务-模态-算法关系。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提供 evidence gate、ranking input 和安全边界。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Neo4j/AuraDB 作为运行服务；TSV 正式证据仍是 source of truth。</a:t>
            </a:r>
            <a:endParaRPr lang="zh-CN" sz="1000"/>
          </a:p>
        </p:txBody>
      </p:sp>
      <p:sp>
        <p:nvSpPr>
          <p:cNvPr id="28" name="Text"/>
          <p:cNvSpPr txBox="1"/>
          <p:nvPr/>
        </p:nvSpPr>
        <p:spPr>
          <a:xfrm>
            <a:off x="4352544" y="2487168"/>
            <a:ext cx="35204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29" name="Shape"/>
          <p:cNvSpPr/>
          <p:nvPr/>
        </p:nvSpPr>
        <p:spPr>
          <a:xfrm>
            <a:off x="4352544" y="2487168"/>
            <a:ext cx="73152" cy="196596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4553712" y="2642616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RAG 的职责</a:t>
            </a:r>
            <a:endParaRPr lang="zh-CN" sz="1400"/>
          </a:p>
        </p:txBody>
      </p:sp>
      <p:sp>
        <p:nvSpPr>
          <p:cNvPr id="31" name="Text"/>
          <p:cNvSpPr txBox="1"/>
          <p:nvPr/>
        </p:nvSpPr>
        <p:spPr>
          <a:xfrm>
            <a:off x="4553712" y="3054096"/>
            <a:ext cx="320040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提供论文、协议、文档片段用于解释和 provenance。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不能改变 MCDM 分数，不能自动提升 evidence trust level。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缺证据必须进入 missing_evidence，而不是被语言模型补齐。</a:t>
            </a:r>
            <a:endParaRPr lang="zh-CN" sz="1000"/>
          </a:p>
        </p:txBody>
      </p:sp>
      <p:sp>
        <p:nvSpPr>
          <p:cNvPr id="32" name="Text"/>
          <p:cNvSpPr txBox="1"/>
          <p:nvPr/>
        </p:nvSpPr>
        <p:spPr>
          <a:xfrm>
            <a:off x="8138160" y="2487168"/>
            <a:ext cx="35204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33" name="Shape"/>
          <p:cNvSpPr/>
          <p:nvPr/>
        </p:nvSpPr>
        <p:spPr>
          <a:xfrm>
            <a:off x="8138160" y="2487168"/>
            <a:ext cx="73152" cy="196596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4" name="Text"/>
          <p:cNvSpPr txBox="1"/>
          <p:nvPr/>
        </p:nvSpPr>
        <p:spPr>
          <a:xfrm>
            <a:off x="8339328" y="2642616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Auditor 的职责</a:t>
            </a:r>
            <a:endParaRPr lang="zh-CN" sz="1400"/>
          </a:p>
        </p:txBody>
      </p:sp>
      <p:sp>
        <p:nvSpPr>
          <p:cNvPr id="35" name="Text"/>
          <p:cNvSpPr txBox="1"/>
          <p:nvPr/>
        </p:nvSpPr>
        <p:spPr>
          <a:xfrm>
            <a:off x="8339328" y="3054096"/>
            <a:ext cx="320040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审计报告中的工具、benchmark、ranking、workflow transition 和阈值类 claim。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critical/high severity findings 阻断不安全报告。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输出 unsupported tools / unsupported claims 供复盘。</a:t>
            </a:r>
            <a:endParaRPr lang="zh-CN" sz="1000"/>
          </a:p>
        </p:txBody>
      </p:sp>
      <p:sp>
        <p:nvSpPr>
          <p:cNvPr id="36" name="Text"/>
          <p:cNvSpPr txBox="1"/>
          <p:nvPr/>
        </p:nvSpPr>
        <p:spPr>
          <a:xfrm>
            <a:off x="621792" y="4892040"/>
            <a:ext cx="10972800" cy="530352"/>
          </a:xfrm>
          <a:prstGeom prst="roundRect">
            <a:avLst/>
          </a:prstGeom>
          <a:solidFill>
            <a:srgbClr val="ECFEFF"/>
          </a:solidFill>
          <a:ln w="9525">
            <a:solidFill>
              <a:srgbClr val="A5F3FC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v0.12 EvidenceContextPack：trusted_recommendation_context / retrieval_context / migration_context / blocked_context / missing_evidence / prompt_policy</a:t>
            </a:r>
            <a:endParaRPr lang="zh-CN" sz="1200"/>
          </a:p>
        </p:txBody>
      </p:sp>
      <p:sp>
        <p:nvSpPr>
          <p:cNvPr id="37" name="Text"/>
          <p:cNvSpPr txBox="1"/>
          <p:nvPr/>
        </p:nvSpPr>
        <p:spPr>
          <a:xfrm>
            <a:off x="1051560" y="5614416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100">
                <a:solidFill>
                  <a:srgbClr val="475569"/>
                </a:solidFill>
                <a:latin typeface="Microsoft YaHei"/>
                <a:ea typeface="Microsoft YaHei"/>
              </a:rPr>
              <a:t>方案要点：KG 负责边界，RAG 负责解释，LLM 负责组织表达，Auditor 负责阻断 unsupported scientific claims。</a:t>
            </a:r>
            <a:endParaRPr lang="zh-CN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Header title"/>
          <p:cNvSpPr txBox="1"/>
          <p:nvPr/>
        </p:nvSpPr>
        <p:spPr>
          <a:xfrm>
            <a:off x="347472" y="20116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F172A"/>
                </a:solidFill>
                <a:latin typeface="Microsoft YaHei"/>
                <a:ea typeface="Microsoft YaHei"/>
              </a:rPr>
              <a:t>核心亮点：证据治理与可追溯推荐</a:t>
            </a:r>
            <a:endParaRPr lang="zh-CN" sz="2200"/>
          </a:p>
        </p:txBody>
      </p:sp>
      <p:sp>
        <p:nvSpPr>
          <p:cNvPr id="4" name="Text"/>
          <p:cNvSpPr txBox="1"/>
          <p:nvPr/>
        </p:nvSpPr>
        <p:spPr>
          <a:xfrm>
            <a:off x="8412480" y="228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candidate 隔离，正式证据保守进入推荐</a:t>
            </a:r>
            <a:endParaRPr lang="zh-CN" sz="900"/>
          </a:p>
        </p:txBody>
      </p:sp>
      <p:sp>
        <p:nvSpPr>
          <p:cNvPr id="5" name="Text"/>
          <p:cNvSpPr txBox="1"/>
          <p:nvPr/>
        </p:nvSpPr>
        <p:spPr>
          <a:xfrm>
            <a:off x="11247120" y="21945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04/08</a:t>
            </a:r>
            <a:endParaRPr lang="zh-CN" sz="1000"/>
          </a:p>
        </p:txBody>
      </p:sp>
      <p:sp>
        <p:nvSpPr>
          <p:cNvPr id="6" name="Text"/>
          <p:cNvSpPr txBox="1"/>
          <p:nvPr/>
        </p:nvSpPr>
        <p:spPr>
          <a:xfrm>
            <a:off x="502920" y="868680"/>
            <a:ext cx="2011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7" name="Shape"/>
          <p:cNvSpPr/>
          <p:nvPr/>
        </p:nvSpPr>
        <p:spPr>
          <a:xfrm>
            <a:off x="502920" y="86868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667512" y="978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2563EB"/>
                </a:solidFill>
                <a:latin typeface="Microsoft YaHei"/>
                <a:ea typeface="Microsoft YaHei"/>
              </a:rPr>
              <a:t>1,842</a:t>
            </a:r>
            <a:endParaRPr lang="zh-CN" sz="2200"/>
          </a:p>
        </p:txBody>
      </p:sp>
      <p:sp>
        <p:nvSpPr>
          <p:cNvPr id="9" name="Text"/>
          <p:cNvSpPr txBox="1"/>
          <p:nvPr/>
        </p:nvSpPr>
        <p:spPr>
          <a:xfrm>
            <a:off x="667512" y="1353312"/>
            <a:ext cx="17556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工具目录规模</a:t>
            </a:r>
            <a:endParaRPr lang="zh-CN" sz="1000"/>
          </a:p>
        </p:txBody>
      </p:sp>
      <p:sp>
        <p:nvSpPr>
          <p:cNvPr id="10" name="Text"/>
          <p:cNvSpPr txBox="1"/>
          <p:nvPr/>
        </p:nvSpPr>
        <p:spPr>
          <a:xfrm>
            <a:off x="2724912" y="868680"/>
            <a:ext cx="2011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1" name="Shape"/>
          <p:cNvSpPr/>
          <p:nvPr/>
        </p:nvSpPr>
        <p:spPr>
          <a:xfrm>
            <a:off x="2724912" y="86868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2889504" y="978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59669"/>
                </a:solidFill>
                <a:latin typeface="Microsoft YaHei"/>
                <a:ea typeface="Microsoft YaHei"/>
              </a:rPr>
              <a:t>28</a:t>
            </a:r>
            <a:endParaRPr lang="zh-CN" sz="2200"/>
          </a:p>
        </p:txBody>
      </p:sp>
      <p:sp>
        <p:nvSpPr>
          <p:cNvPr id="13" name="Text"/>
          <p:cNvSpPr txBox="1"/>
          <p:nvPr/>
        </p:nvSpPr>
        <p:spPr>
          <a:xfrm>
            <a:off x="2889504" y="1353312"/>
            <a:ext cx="17556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正式 publication rows</a:t>
            </a:r>
            <a:endParaRPr lang="zh-CN" sz="1000"/>
          </a:p>
        </p:txBody>
      </p:sp>
      <p:sp>
        <p:nvSpPr>
          <p:cNvPr id="14" name="Text"/>
          <p:cNvSpPr txBox="1"/>
          <p:nvPr/>
        </p:nvSpPr>
        <p:spPr>
          <a:xfrm>
            <a:off x="4946904" y="868680"/>
            <a:ext cx="2011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5" name="Shape"/>
          <p:cNvSpPr/>
          <p:nvPr/>
        </p:nvSpPr>
        <p:spPr>
          <a:xfrm>
            <a:off x="4946904" y="868680"/>
            <a:ext cx="73152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5111496" y="978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D97706"/>
                </a:solidFill>
                <a:latin typeface="Microsoft YaHei"/>
                <a:ea typeface="Microsoft YaHei"/>
              </a:rPr>
              <a:t>14</a:t>
            </a:r>
            <a:endParaRPr lang="zh-CN" sz="2200"/>
          </a:p>
        </p:txBody>
      </p:sp>
      <p:sp>
        <p:nvSpPr>
          <p:cNvPr id="17" name="Text"/>
          <p:cNvSpPr txBox="1"/>
          <p:nvPr/>
        </p:nvSpPr>
        <p:spPr>
          <a:xfrm>
            <a:off x="5111496" y="1353312"/>
            <a:ext cx="17556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正式 benchmark rows</a:t>
            </a:r>
            <a:endParaRPr lang="zh-CN" sz="1000"/>
          </a:p>
        </p:txBody>
      </p:sp>
      <p:sp>
        <p:nvSpPr>
          <p:cNvPr id="18" name="Text"/>
          <p:cNvSpPr txBox="1"/>
          <p:nvPr/>
        </p:nvSpPr>
        <p:spPr>
          <a:xfrm>
            <a:off x="7168896" y="868680"/>
            <a:ext cx="2011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9" name="Shape"/>
          <p:cNvSpPr/>
          <p:nvPr/>
        </p:nvSpPr>
        <p:spPr>
          <a:xfrm>
            <a:off x="7168896" y="86868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7333488" y="978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7C3AED"/>
                </a:solidFill>
                <a:latin typeface="Microsoft YaHei"/>
                <a:ea typeface="Microsoft YaHei"/>
              </a:rPr>
              <a:t>178</a:t>
            </a:r>
            <a:endParaRPr lang="zh-CN" sz="2200"/>
          </a:p>
        </p:txBody>
      </p:sp>
      <p:sp>
        <p:nvSpPr>
          <p:cNvPr id="21" name="Text"/>
          <p:cNvSpPr txBox="1"/>
          <p:nvPr/>
        </p:nvSpPr>
        <p:spPr>
          <a:xfrm>
            <a:off x="7333488" y="1353312"/>
            <a:ext cx="17556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候选证据 ID</a:t>
            </a:r>
            <a:endParaRPr lang="zh-CN" sz="1000"/>
          </a:p>
        </p:txBody>
      </p:sp>
      <p:sp>
        <p:nvSpPr>
          <p:cNvPr id="22" name="Text"/>
          <p:cNvSpPr txBox="1"/>
          <p:nvPr/>
        </p:nvSpPr>
        <p:spPr>
          <a:xfrm>
            <a:off x="9390888" y="868680"/>
            <a:ext cx="2011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23" name="Shape"/>
          <p:cNvSpPr/>
          <p:nvPr/>
        </p:nvSpPr>
        <p:spPr>
          <a:xfrm>
            <a:off x="9390888" y="8686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9555480" y="978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DC2626"/>
                </a:solidFill>
                <a:latin typeface="Microsoft YaHei"/>
                <a:ea typeface="Microsoft YaHei"/>
              </a:rPr>
              <a:t>49</a:t>
            </a:r>
            <a:endParaRPr lang="zh-CN" sz="2200"/>
          </a:p>
        </p:txBody>
      </p:sp>
      <p:sp>
        <p:nvSpPr>
          <p:cNvPr id="25" name="Text"/>
          <p:cNvSpPr txBox="1"/>
          <p:nvPr/>
        </p:nvSpPr>
        <p:spPr>
          <a:xfrm>
            <a:off x="9555480" y="1353312"/>
            <a:ext cx="17556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KG 审阅动作</a:t>
            </a:r>
            <a:endParaRPr lang="zh-CN" sz="1000"/>
          </a:p>
        </p:txBody>
      </p:sp>
      <p:sp>
        <p:nvSpPr>
          <p:cNvPr id="26" name="Text"/>
          <p:cNvSpPr txBox="1"/>
          <p:nvPr/>
        </p:nvSpPr>
        <p:spPr>
          <a:xfrm>
            <a:off x="566928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证据分层策略</a:t>
            </a:r>
            <a:endParaRPr lang="zh-CN" sz="1400"/>
          </a:p>
        </p:txBody>
      </p:sp>
      <p:sp>
        <p:nvSpPr>
          <p:cNvPr id="27" name="Shape"/>
          <p:cNvSpPr/>
          <p:nvPr/>
        </p:nvSpPr>
        <p:spPr>
          <a:xfrm>
            <a:off x="676656" y="2514600"/>
            <a:ext cx="3072384" cy="32918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822960" y="25603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trusted_core</a:t>
            </a:r>
            <a:endParaRPr lang="zh-CN" sz="900"/>
          </a:p>
        </p:txBody>
      </p:sp>
      <p:sp>
        <p:nvSpPr>
          <p:cNvPr id="29" name="Text"/>
          <p:cNvSpPr txBox="1"/>
          <p:nvPr/>
        </p:nvSpPr>
        <p:spPr>
          <a:xfrm>
            <a:off x="3063240" y="25054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可进入检索、排序、推荐与报告</a:t>
            </a:r>
            <a:endParaRPr lang="zh-CN" sz="1000"/>
          </a:p>
        </p:txBody>
      </p:sp>
      <p:sp>
        <p:nvSpPr>
          <p:cNvPr id="30" name="Shape"/>
          <p:cNvSpPr/>
          <p:nvPr/>
        </p:nvSpPr>
        <p:spPr>
          <a:xfrm>
            <a:off x="676656" y="3172968"/>
            <a:ext cx="2414016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822960" y="3218688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review_needed</a:t>
            </a:r>
            <a:endParaRPr lang="zh-CN" sz="900"/>
          </a:p>
        </p:txBody>
      </p:sp>
      <p:sp>
        <p:nvSpPr>
          <p:cNvPr id="32" name="Text"/>
          <p:cNvSpPr txBox="1"/>
          <p:nvPr/>
        </p:nvSpPr>
        <p:spPr>
          <a:xfrm>
            <a:off x="3063240" y="316382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候选材料只进入审阅队列，不自动晋升</a:t>
            </a:r>
            <a:endParaRPr lang="zh-CN" sz="1000"/>
          </a:p>
        </p:txBody>
      </p:sp>
      <p:sp>
        <p:nvSpPr>
          <p:cNvPr id="33" name="Shape"/>
          <p:cNvSpPr/>
          <p:nvPr/>
        </p:nvSpPr>
        <p:spPr>
          <a:xfrm>
            <a:off x="676656" y="3831336"/>
            <a:ext cx="175564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4" name="Text"/>
          <p:cNvSpPr txBox="1"/>
          <p:nvPr/>
        </p:nvSpPr>
        <p:spPr>
          <a:xfrm>
            <a:off x="822960" y="387705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experimental</a:t>
            </a:r>
            <a:endParaRPr lang="zh-CN" sz="900"/>
          </a:p>
        </p:txBody>
      </p:sp>
      <p:sp>
        <p:nvSpPr>
          <p:cNvPr id="35" name="Text"/>
          <p:cNvSpPr txBox="1"/>
          <p:nvPr/>
        </p:nvSpPr>
        <p:spPr>
          <a:xfrm>
            <a:off x="3063240" y="382219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迁移假设、相似性和模板仅用于探索</a:t>
            </a:r>
            <a:endParaRPr lang="zh-CN" sz="1000"/>
          </a:p>
        </p:txBody>
      </p:sp>
      <p:sp>
        <p:nvSpPr>
          <p:cNvPr id="36" name="Shape"/>
          <p:cNvSpPr/>
          <p:nvPr/>
        </p:nvSpPr>
        <p:spPr>
          <a:xfrm>
            <a:off x="676656" y="4489704"/>
            <a:ext cx="1097280" cy="32918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7" name="Text"/>
          <p:cNvSpPr txBox="1"/>
          <p:nvPr/>
        </p:nvSpPr>
        <p:spPr>
          <a:xfrm>
            <a:off x="822960" y="45354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rejected/deprecated</a:t>
            </a:r>
            <a:endParaRPr lang="zh-CN" sz="900"/>
          </a:p>
        </p:txBody>
      </p:sp>
      <p:sp>
        <p:nvSpPr>
          <p:cNvPr id="38" name="Text"/>
          <p:cNvSpPr txBox="1"/>
          <p:nvPr/>
        </p:nvSpPr>
        <p:spPr>
          <a:xfrm>
            <a:off x="3063240" y="448056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阻断进入推荐链路</a:t>
            </a:r>
            <a:endParaRPr lang="zh-CN" sz="1000"/>
          </a:p>
        </p:txBody>
      </p:sp>
      <p:sp>
        <p:nvSpPr>
          <p:cNvPr id="39" name="Text"/>
          <p:cNvSpPr txBox="1"/>
          <p:nvPr/>
        </p:nvSpPr>
        <p:spPr>
          <a:xfrm>
            <a:off x="7242048" y="2212848"/>
            <a:ext cx="4389120" cy="23042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40" name="Shape"/>
          <p:cNvSpPr/>
          <p:nvPr/>
        </p:nvSpPr>
        <p:spPr>
          <a:xfrm>
            <a:off x="7242048" y="2212848"/>
            <a:ext cx="73152" cy="230428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1" name="Text"/>
          <p:cNvSpPr txBox="1"/>
          <p:nvPr/>
        </p:nvSpPr>
        <p:spPr>
          <a:xfrm>
            <a:off x="7443216" y="236829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为什么这是亮点</a:t>
            </a:r>
            <a:endParaRPr lang="zh-CN" sz="1400"/>
          </a:p>
        </p:txBody>
      </p:sp>
      <p:sp>
        <p:nvSpPr>
          <p:cNvPr id="42" name="Text"/>
          <p:cNvSpPr txBox="1"/>
          <p:nvPr/>
        </p:nvSpPr>
        <p:spPr>
          <a:xfrm>
            <a:off x="7443216" y="2779776"/>
            <a:ext cx="406908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把推荐级证据和候选证据物理隔离，避免“抓到就推荐”。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正式表字段顺序由 evidence_schemas.py 约束，便于验证和回滚。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canonical work_group_id 防止同一论文/benchmark 重复计分。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UI 默认只展示正式 Tool-Task 主干，减少高阶节点造成的视觉误导。</a:t>
            </a:r>
            <a:endParaRPr lang="zh-CN" sz="1000"/>
          </a:p>
        </p:txBody>
      </p:sp>
      <p:sp>
        <p:nvSpPr>
          <p:cNvPr id="43" name="Text"/>
          <p:cNvSpPr txBox="1"/>
          <p:nvPr/>
        </p:nvSpPr>
        <p:spPr>
          <a:xfrm>
            <a:off x="658368" y="5074920"/>
            <a:ext cx="10972800" cy="658368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anchor="t" lIns="73152" rIns="73152" tIns="73152" bIns="73152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100">
                <a:solidFill>
                  <a:srgbClr val="0F172A"/>
                </a:solidFill>
                <a:latin typeface="Microsoft YaHei"/>
                <a:ea typeface="Microsoft YaHei"/>
              </a:rPr>
              <a:t>当前 KG 质量审计：126 条 issue，49 条 review action。重点集中在 benchmark work_group_id、PMID、重复 DOI/title 与正式表 provenance 清理。</a:t>
            </a:r>
            <a:endParaRPr lang="zh-C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Header title"/>
          <p:cNvSpPr txBox="1"/>
          <p:nvPr/>
        </p:nvSpPr>
        <p:spPr>
          <a:xfrm>
            <a:off x="347472" y="20116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F172A"/>
                </a:solidFill>
                <a:latin typeface="Microsoft YaHei"/>
                <a:ea typeface="Microsoft YaHei"/>
              </a:rPr>
              <a:t>关键难点与解决路径</a:t>
            </a:r>
            <a:endParaRPr lang="zh-CN" sz="2200"/>
          </a:p>
        </p:txBody>
      </p:sp>
      <p:sp>
        <p:nvSpPr>
          <p:cNvPr id="4" name="Text"/>
          <p:cNvSpPr txBox="1"/>
          <p:nvPr/>
        </p:nvSpPr>
        <p:spPr>
          <a:xfrm>
            <a:off x="8412480" y="228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让 Agent 保守、可复现，而不是更会编</a:t>
            </a:r>
            <a:endParaRPr lang="zh-CN" sz="900"/>
          </a:p>
        </p:txBody>
      </p:sp>
      <p:sp>
        <p:nvSpPr>
          <p:cNvPr id="5" name="Text"/>
          <p:cNvSpPr txBox="1"/>
          <p:nvPr/>
        </p:nvSpPr>
        <p:spPr>
          <a:xfrm>
            <a:off x="11247120" y="21945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05/08</a:t>
            </a:r>
            <a:endParaRPr lang="zh-CN" sz="1000"/>
          </a:p>
        </p:txBody>
      </p:sp>
      <p:sp>
        <p:nvSpPr>
          <p:cNvPr id="6" name="Text"/>
          <p:cNvSpPr txBox="1"/>
          <p:nvPr/>
        </p:nvSpPr>
        <p:spPr>
          <a:xfrm>
            <a:off x="566928" y="914400"/>
            <a:ext cx="3200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 lang="zh-CN" sz="1400"/>
          </a:p>
        </p:txBody>
      </p:sp>
      <p:sp>
        <p:nvSpPr>
          <p:cNvPr id="7" name="Text"/>
          <p:cNvSpPr txBox="1"/>
          <p:nvPr/>
        </p:nvSpPr>
        <p:spPr>
          <a:xfrm>
            <a:off x="987552" y="86868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证据稀疏且异质</a:t>
            </a:r>
            <a:endParaRPr lang="zh-CN" sz="1200"/>
          </a:p>
        </p:txBody>
      </p:sp>
      <p:sp>
        <p:nvSpPr>
          <p:cNvPr id="8" name="Text"/>
          <p:cNvSpPr txBox="1"/>
          <p:nvPr/>
        </p:nvSpPr>
        <p:spPr>
          <a:xfrm>
            <a:off x="3364992" y="868680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论文、benchmark、protocol、GitHub 和工具文档可信度不同。</a:t>
            </a:r>
            <a:endParaRPr lang="zh-CN" sz="1000"/>
          </a:p>
        </p:txBody>
      </p:sp>
      <p:sp>
        <p:nvSpPr>
          <p:cNvPr id="9" name="Text"/>
          <p:cNvSpPr txBox="1"/>
          <p:nvPr/>
        </p:nvSpPr>
        <p:spPr>
          <a:xfrm>
            <a:off x="6839712" y="92354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3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300"/>
          </a:p>
        </p:txBody>
      </p:sp>
      <p:sp>
        <p:nvSpPr>
          <p:cNvPr id="10" name="Text"/>
          <p:cNvSpPr txBox="1"/>
          <p:nvPr/>
        </p:nvSpPr>
        <p:spPr>
          <a:xfrm>
            <a:off x="7242048" y="86868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0F172A"/>
                </a:solidFill>
                <a:latin typeface="Microsoft YaHei"/>
                <a:ea typeface="Microsoft YaHei"/>
              </a:rPr>
              <a:t>分层 evidence policy；GitHub 活跃度不能支撑强科学推荐。</a:t>
            </a:r>
            <a:endParaRPr lang="zh-CN" sz="1000"/>
          </a:p>
        </p:txBody>
      </p:sp>
      <p:sp>
        <p:nvSpPr>
          <p:cNvPr id="11" name="Text"/>
          <p:cNvSpPr txBox="1"/>
          <p:nvPr/>
        </p:nvSpPr>
        <p:spPr>
          <a:xfrm>
            <a:off x="566928" y="1901952"/>
            <a:ext cx="320040" cy="31089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 lang="zh-CN" sz="1400"/>
          </a:p>
        </p:txBody>
      </p:sp>
      <p:sp>
        <p:nvSpPr>
          <p:cNvPr id="12" name="Text"/>
          <p:cNvSpPr txBox="1"/>
          <p:nvPr/>
        </p:nvSpPr>
        <p:spPr>
          <a:xfrm>
            <a:off x="987552" y="185623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200" b="1">
                <a:solidFill>
                  <a:srgbClr val="059669"/>
                </a:solidFill>
                <a:latin typeface="Microsoft YaHei"/>
                <a:ea typeface="Microsoft YaHei"/>
              </a:rPr>
              <a:t>工具名和任务边界混淆</a:t>
            </a:r>
            <a:endParaRPr lang="zh-CN" sz="1200"/>
          </a:p>
        </p:txBody>
      </p:sp>
      <p:sp>
        <p:nvSpPr>
          <p:cNvPr id="13" name="Text"/>
          <p:cNvSpPr txBox="1"/>
          <p:nvPr/>
        </p:nvSpPr>
        <p:spPr>
          <a:xfrm>
            <a:off x="3364992" y="185623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Scanpy/scvi-tools 等 suite 级工具容易被误当成单一方法。</a:t>
            </a:r>
            <a:endParaRPr lang="zh-CN" sz="1000"/>
          </a:p>
        </p:txBody>
      </p:sp>
      <p:sp>
        <p:nvSpPr>
          <p:cNvPr id="14" name="Text"/>
          <p:cNvSpPr txBox="1"/>
          <p:nvPr/>
        </p:nvSpPr>
        <p:spPr>
          <a:xfrm>
            <a:off x="6839712" y="191109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3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300"/>
          </a:p>
        </p:txBody>
      </p:sp>
      <p:sp>
        <p:nvSpPr>
          <p:cNvPr id="15" name="Text"/>
          <p:cNvSpPr txBox="1"/>
          <p:nvPr/>
        </p:nvSpPr>
        <p:spPr>
          <a:xfrm>
            <a:off x="7242048" y="185623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0F172A"/>
                </a:solidFill>
                <a:latin typeface="Microsoft YaHei"/>
                <a:ea typeface="Microsoft YaHei"/>
              </a:rPr>
              <a:t>task ontology + deterministic fallback + migration intent gate。</a:t>
            </a:r>
            <a:endParaRPr lang="zh-CN" sz="1000"/>
          </a:p>
        </p:txBody>
      </p:sp>
      <p:sp>
        <p:nvSpPr>
          <p:cNvPr id="16" name="Text"/>
          <p:cNvSpPr txBox="1"/>
          <p:nvPr/>
        </p:nvSpPr>
        <p:spPr>
          <a:xfrm>
            <a:off x="566928" y="2889504"/>
            <a:ext cx="32004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 lang="zh-CN" sz="1400"/>
          </a:p>
        </p:txBody>
      </p:sp>
      <p:sp>
        <p:nvSpPr>
          <p:cNvPr id="17" name="Text"/>
          <p:cNvSpPr txBox="1"/>
          <p:nvPr/>
        </p:nvSpPr>
        <p:spPr>
          <a:xfrm>
            <a:off x="987552" y="284378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200" b="1">
                <a:solidFill>
                  <a:srgbClr val="D97706"/>
                </a:solidFill>
                <a:latin typeface="Microsoft YaHei"/>
                <a:ea typeface="Microsoft YaHei"/>
              </a:rPr>
              <a:t>重复论文导致评分膨胀</a:t>
            </a:r>
            <a:endParaRPr lang="zh-CN" sz="1200"/>
          </a:p>
        </p:txBody>
      </p:sp>
      <p:sp>
        <p:nvSpPr>
          <p:cNvPr id="18" name="Text"/>
          <p:cNvSpPr txBox="1"/>
          <p:nvPr/>
        </p:nvSpPr>
        <p:spPr>
          <a:xfrm>
            <a:off x="3364992" y="2843784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同一 benchmark 可覆盖多个工具，若不分组会重复加权。</a:t>
            </a:r>
            <a:endParaRPr lang="zh-CN" sz="1000"/>
          </a:p>
        </p:txBody>
      </p:sp>
      <p:sp>
        <p:nvSpPr>
          <p:cNvPr id="19" name="Text"/>
          <p:cNvSpPr txBox="1"/>
          <p:nvPr/>
        </p:nvSpPr>
        <p:spPr>
          <a:xfrm>
            <a:off x="6839712" y="28986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3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300"/>
          </a:p>
        </p:txBody>
      </p:sp>
      <p:sp>
        <p:nvSpPr>
          <p:cNvPr id="20" name="Text"/>
          <p:cNvSpPr txBox="1"/>
          <p:nvPr/>
        </p:nvSpPr>
        <p:spPr>
          <a:xfrm>
            <a:off x="7242048" y="2843784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0F172A"/>
                </a:solidFill>
                <a:latin typeface="Microsoft YaHei"/>
                <a:ea typeface="Microsoft YaHei"/>
              </a:rPr>
              <a:t>work_group_id + canonical_scope，非 canonical 只做链接证据。</a:t>
            </a:r>
            <a:endParaRPr lang="zh-CN" sz="1000"/>
          </a:p>
        </p:txBody>
      </p:sp>
      <p:sp>
        <p:nvSpPr>
          <p:cNvPr id="21" name="Text"/>
          <p:cNvSpPr txBox="1"/>
          <p:nvPr/>
        </p:nvSpPr>
        <p:spPr>
          <a:xfrm>
            <a:off x="566928" y="3877056"/>
            <a:ext cx="320040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 lang="zh-CN" sz="1400"/>
          </a:p>
        </p:txBody>
      </p:sp>
      <p:sp>
        <p:nvSpPr>
          <p:cNvPr id="22" name="Text"/>
          <p:cNvSpPr txBox="1"/>
          <p:nvPr/>
        </p:nvSpPr>
        <p:spPr>
          <a:xfrm>
            <a:off x="987552" y="383133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探索性迁移容易过度承诺</a:t>
            </a:r>
            <a:endParaRPr lang="zh-CN" sz="1200"/>
          </a:p>
        </p:txBody>
      </p:sp>
      <p:sp>
        <p:nvSpPr>
          <p:cNvPr id="23" name="Text"/>
          <p:cNvSpPr txBox="1"/>
          <p:nvPr/>
        </p:nvSpPr>
        <p:spPr>
          <a:xfrm>
            <a:off x="3364992" y="3831336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相似机制不等于适配新任务，更不等于 benchmark-backed。</a:t>
            </a:r>
            <a:endParaRPr lang="zh-CN" sz="1000"/>
          </a:p>
        </p:txBody>
      </p:sp>
      <p:sp>
        <p:nvSpPr>
          <p:cNvPr id="24" name="Text"/>
          <p:cNvSpPr txBox="1"/>
          <p:nvPr/>
        </p:nvSpPr>
        <p:spPr>
          <a:xfrm>
            <a:off x="6839712" y="388620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3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7242048" y="3831336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0F172A"/>
                </a:solidFill>
                <a:latin typeface="Microsoft YaHei"/>
                <a:ea typeface="Microsoft YaHei"/>
              </a:rPr>
              <a:t>MigrationHypothesis 独立于 ScoredTool；必须带 caveat、gap、validation plan。</a:t>
            </a:r>
            <a:endParaRPr lang="zh-CN" sz="1000"/>
          </a:p>
        </p:txBody>
      </p:sp>
      <p:sp>
        <p:nvSpPr>
          <p:cNvPr id="26" name="Text"/>
          <p:cNvSpPr txBox="1"/>
          <p:nvPr/>
        </p:nvSpPr>
        <p:spPr>
          <a:xfrm>
            <a:off x="566928" y="4864608"/>
            <a:ext cx="320040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 lang="zh-CN" sz="1400"/>
          </a:p>
        </p:txBody>
      </p:sp>
      <p:sp>
        <p:nvSpPr>
          <p:cNvPr id="27" name="Text"/>
          <p:cNvSpPr txBox="1"/>
          <p:nvPr/>
        </p:nvSpPr>
        <p:spPr>
          <a:xfrm>
            <a:off x="987552" y="481888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报告幻觉难以肉眼兜底</a:t>
            </a:r>
            <a:endParaRPr lang="zh-CN" sz="1200"/>
          </a:p>
        </p:txBody>
      </p:sp>
      <p:sp>
        <p:nvSpPr>
          <p:cNvPr id="28" name="Text"/>
          <p:cNvSpPr txBox="1"/>
          <p:nvPr/>
        </p:nvSpPr>
        <p:spPr>
          <a:xfrm>
            <a:off x="3364992" y="4818888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LLM 可能生成不存在的排名、阈值、迁移保证或工作流跳转。</a:t>
            </a:r>
            <a:endParaRPr lang="zh-CN" sz="1000"/>
          </a:p>
        </p:txBody>
      </p:sp>
      <p:sp>
        <p:nvSpPr>
          <p:cNvPr id="29" name="Text"/>
          <p:cNvSpPr txBox="1"/>
          <p:nvPr/>
        </p:nvSpPr>
        <p:spPr>
          <a:xfrm>
            <a:off x="6839712" y="4873752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300">
                <a:solidFill>
                  <a:srgbClr val="475569"/>
                </a:solidFill>
                <a:latin typeface="Microsoft YaHei"/>
                <a:ea typeface="Microsoft YaHei"/>
              </a:rPr>
              <a:t>→</a:t>
            </a:r>
            <a:endParaRPr lang="zh-CN" sz="1300"/>
          </a:p>
        </p:txBody>
      </p:sp>
      <p:sp>
        <p:nvSpPr>
          <p:cNvPr id="30" name="Text"/>
          <p:cNvSpPr txBox="1"/>
          <p:nvPr/>
        </p:nvSpPr>
        <p:spPr>
          <a:xfrm>
            <a:off x="7242048" y="481888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0F172A"/>
                </a:solidFill>
                <a:latin typeface="Microsoft YaHei"/>
                <a:ea typeface="Microsoft YaHei"/>
              </a:rPr>
              <a:t>semantic hallucination auditor 审计 claim，critical/high findings 阻断输出。</a:t>
            </a:r>
            <a:endParaRPr lang="zh-CN" sz="1000"/>
          </a:p>
        </p:txBody>
      </p:sp>
      <p:sp>
        <p:nvSpPr>
          <p:cNvPr id="31" name="Text"/>
          <p:cNvSpPr txBox="1"/>
          <p:nvPr/>
        </p:nvSpPr>
        <p:spPr>
          <a:xfrm>
            <a:off x="685800" y="5797296"/>
            <a:ext cx="10835640" cy="420624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工程取舍：优先使用确定性脚本、TSV 工作流、审阅队列和离线评估；延后自主执行、自动证据晋升和复杂长期记忆。</a:t>
            </a:r>
            <a:endParaRPr lang="zh-CN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Header title"/>
          <p:cNvSpPr txBox="1"/>
          <p:nvPr/>
        </p:nvSpPr>
        <p:spPr>
          <a:xfrm>
            <a:off x="347472" y="20116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F172A"/>
                </a:solidFill>
                <a:latin typeface="Microsoft YaHei"/>
                <a:ea typeface="Microsoft YaHei"/>
              </a:rPr>
              <a:t>版本更新迭代与研究进展</a:t>
            </a:r>
            <a:endParaRPr lang="zh-CN" sz="2200"/>
          </a:p>
        </p:txBody>
      </p:sp>
      <p:sp>
        <p:nvSpPr>
          <p:cNvPr id="4" name="Text"/>
          <p:cNvSpPr txBox="1"/>
          <p:nvPr/>
        </p:nvSpPr>
        <p:spPr>
          <a:xfrm>
            <a:off x="8412480" y="228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从推荐 baseline 到 Hybrid KG-RAG 上下文包</a:t>
            </a:r>
            <a:endParaRPr lang="zh-CN" sz="900"/>
          </a:p>
        </p:txBody>
      </p:sp>
      <p:sp>
        <p:nvSpPr>
          <p:cNvPr id="5" name="Text"/>
          <p:cNvSpPr txBox="1"/>
          <p:nvPr/>
        </p:nvSpPr>
        <p:spPr>
          <a:xfrm>
            <a:off x="11247120" y="21945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06/08</a:t>
            </a:r>
            <a:endParaRPr lang="zh-CN" sz="1000"/>
          </a:p>
        </p:txBody>
      </p:sp>
      <p:sp>
        <p:nvSpPr>
          <p:cNvPr id="6" name="Shape"/>
          <p:cNvSpPr/>
          <p:nvPr/>
        </p:nvSpPr>
        <p:spPr>
          <a:xfrm>
            <a:off x="594360" y="1161288"/>
            <a:ext cx="1517904" cy="73152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48640" y="8046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500" b="1">
                <a:solidFill>
                  <a:srgbClr val="334155"/>
                </a:solidFill>
                <a:latin typeface="Microsoft YaHei"/>
                <a:ea typeface="Microsoft YaHei"/>
              </a:rPr>
              <a:t>v0.1</a:t>
            </a:r>
            <a:endParaRPr lang="zh-CN" sz="1500"/>
          </a:p>
        </p:txBody>
      </p:sp>
      <p:sp>
        <p:nvSpPr>
          <p:cNvPr id="8" name="Text"/>
          <p:cNvSpPr txBox="1"/>
          <p:nvPr/>
        </p:nvSpPr>
        <p:spPr>
          <a:xfrm>
            <a:off x="548640" y="1316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原型</a:t>
            </a:r>
            <a:endParaRPr lang="zh-CN" sz="1000"/>
          </a:p>
        </p:txBody>
      </p:sp>
      <p:sp>
        <p:nvSpPr>
          <p:cNvPr id="9" name="Text"/>
          <p:cNvSpPr txBox="1"/>
          <p:nvPr/>
        </p:nvSpPr>
        <p:spPr>
          <a:xfrm>
            <a:off x="548640" y="1664208"/>
            <a:ext cx="1600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Streamlit UI、LangGraph workflow、Neo4j/offline graph、工具目录接入。</a:t>
            </a:r>
            <a:endParaRPr lang="zh-CN" sz="800"/>
          </a:p>
        </p:txBody>
      </p:sp>
      <p:sp>
        <p:nvSpPr>
          <p:cNvPr id="10" name="Shape"/>
          <p:cNvSpPr/>
          <p:nvPr/>
        </p:nvSpPr>
        <p:spPr>
          <a:xfrm>
            <a:off x="2478024" y="1161288"/>
            <a:ext cx="15179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2432304" y="8046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v0.2</a:t>
            </a:r>
            <a:endParaRPr lang="zh-CN" sz="1500"/>
          </a:p>
        </p:txBody>
      </p:sp>
      <p:sp>
        <p:nvSpPr>
          <p:cNvPr id="12" name="Text"/>
          <p:cNvSpPr txBox="1"/>
          <p:nvPr/>
        </p:nvSpPr>
        <p:spPr>
          <a:xfrm>
            <a:off x="2432304" y="1316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可信推荐 baseline</a:t>
            </a:r>
            <a:endParaRPr lang="zh-CN" sz="1000"/>
          </a:p>
        </p:txBody>
      </p:sp>
      <p:sp>
        <p:nvSpPr>
          <p:cNvPr id="13" name="Text"/>
          <p:cNvSpPr txBox="1"/>
          <p:nvPr/>
        </p:nvSpPr>
        <p:spPr>
          <a:xfrm>
            <a:off x="2432304" y="1664208"/>
            <a:ext cx="1600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冻结 evidence_gate_auditor：约束解析、trusted evidence gate、MCDM top-k、语义审计。</a:t>
            </a:r>
            <a:endParaRPr lang="zh-CN" sz="800"/>
          </a:p>
        </p:txBody>
      </p:sp>
      <p:sp>
        <p:nvSpPr>
          <p:cNvPr id="14" name="Shape"/>
          <p:cNvSpPr/>
          <p:nvPr/>
        </p:nvSpPr>
        <p:spPr>
          <a:xfrm>
            <a:off x="4361688" y="1161288"/>
            <a:ext cx="1517904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4315968" y="8046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500" b="1">
                <a:solidFill>
                  <a:srgbClr val="059669"/>
                </a:solidFill>
                <a:latin typeface="Microsoft YaHei"/>
                <a:ea typeface="Microsoft YaHei"/>
              </a:rPr>
              <a:t>v0.3</a:t>
            </a:r>
            <a:endParaRPr lang="zh-CN" sz="1500"/>
          </a:p>
        </p:txBody>
      </p:sp>
      <p:sp>
        <p:nvSpPr>
          <p:cNvPr id="16" name="Text"/>
          <p:cNvSpPr txBox="1"/>
          <p:nvPr/>
        </p:nvSpPr>
        <p:spPr>
          <a:xfrm>
            <a:off x="4315968" y="1316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迁移假设</a:t>
            </a:r>
            <a:endParaRPr lang="zh-CN" sz="1000"/>
          </a:p>
        </p:txBody>
      </p:sp>
      <p:sp>
        <p:nvSpPr>
          <p:cNvPr id="17" name="Text"/>
          <p:cNvSpPr txBox="1"/>
          <p:nvPr/>
        </p:nvSpPr>
        <p:spPr>
          <a:xfrm>
            <a:off x="4315968" y="1664208"/>
            <a:ext cx="1600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引入 MigrationHypothesis、算法 profile、迁移可行性分数和验证计划。</a:t>
            </a:r>
            <a:endParaRPr lang="zh-CN" sz="800"/>
          </a:p>
        </p:txBody>
      </p:sp>
      <p:sp>
        <p:nvSpPr>
          <p:cNvPr id="18" name="Shape"/>
          <p:cNvSpPr/>
          <p:nvPr/>
        </p:nvSpPr>
        <p:spPr>
          <a:xfrm>
            <a:off x="6245352" y="1161288"/>
            <a:ext cx="1517904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"/>
          <p:cNvSpPr txBox="1"/>
          <p:nvPr/>
        </p:nvSpPr>
        <p:spPr>
          <a:xfrm>
            <a:off x="6199632" y="8046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</a:rPr>
              <a:t>v0.8</a:t>
            </a:r>
            <a:endParaRPr lang="zh-CN" sz="1500"/>
          </a:p>
        </p:txBody>
      </p:sp>
      <p:sp>
        <p:nvSpPr>
          <p:cNvPr id="20" name="Text"/>
          <p:cNvSpPr txBox="1"/>
          <p:nvPr/>
        </p:nvSpPr>
        <p:spPr>
          <a:xfrm>
            <a:off x="6199632" y="1316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封闭评估</a:t>
            </a:r>
            <a:endParaRPr lang="zh-CN" sz="1000"/>
          </a:p>
        </p:txBody>
      </p:sp>
      <p:sp>
        <p:nvSpPr>
          <p:cNvPr id="21" name="Text"/>
          <p:cNvSpPr txBox="1"/>
          <p:nvPr/>
        </p:nvSpPr>
        <p:spPr>
          <a:xfrm>
            <a:off x="6199632" y="1664208"/>
            <a:ext cx="1600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定义 sealed migration protocol；首次系统性测试 true/revise/negative/clarify/trap。</a:t>
            </a:r>
            <a:endParaRPr lang="zh-CN" sz="800"/>
          </a:p>
        </p:txBody>
      </p:sp>
      <p:sp>
        <p:nvSpPr>
          <p:cNvPr id="22" name="Shape"/>
          <p:cNvSpPr/>
          <p:nvPr/>
        </p:nvSpPr>
        <p:spPr>
          <a:xfrm>
            <a:off x="8129016" y="1161288"/>
            <a:ext cx="1517904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3" name="Text"/>
          <p:cNvSpPr txBox="1"/>
          <p:nvPr/>
        </p:nvSpPr>
        <p:spPr>
          <a:xfrm>
            <a:off x="8083296" y="8046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500" b="1">
                <a:solidFill>
                  <a:srgbClr val="DC2626"/>
                </a:solidFill>
                <a:latin typeface="Microsoft YaHei"/>
                <a:ea typeface="Microsoft YaHei"/>
              </a:rPr>
              <a:t>v0.9-v0.11</a:t>
            </a:r>
            <a:endParaRPr lang="zh-CN" sz="1500"/>
          </a:p>
        </p:txBody>
      </p:sp>
      <p:sp>
        <p:nvSpPr>
          <p:cNvPr id="24" name="Text"/>
          <p:cNvSpPr txBox="1"/>
          <p:nvPr/>
        </p:nvSpPr>
        <p:spPr>
          <a:xfrm>
            <a:off x="8083296" y="1316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故障修复</a:t>
            </a:r>
            <a:endParaRPr lang="zh-CN" sz="1000"/>
          </a:p>
        </p:txBody>
      </p:sp>
      <p:sp>
        <p:nvSpPr>
          <p:cNvPr id="25" name="Text"/>
          <p:cNvSpPr txBox="1"/>
          <p:nvPr/>
        </p:nvSpPr>
        <p:spPr>
          <a:xfrm>
            <a:off x="8083296" y="1664208"/>
            <a:ext cx="1600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人审迁移向量，暴露并修复 toolkit/API/foundation model 过度迁移陷阱。</a:t>
            </a:r>
            <a:endParaRPr lang="zh-CN" sz="800"/>
          </a:p>
        </p:txBody>
      </p:sp>
      <p:sp>
        <p:nvSpPr>
          <p:cNvPr id="26" name="Shape"/>
          <p:cNvSpPr/>
          <p:nvPr/>
        </p:nvSpPr>
        <p:spPr>
          <a:xfrm>
            <a:off x="10012680" y="1161288"/>
            <a:ext cx="1517904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7" name="Text"/>
          <p:cNvSpPr txBox="1"/>
          <p:nvPr/>
        </p:nvSpPr>
        <p:spPr>
          <a:xfrm>
            <a:off x="9966960" y="8046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500" b="1">
                <a:solidFill>
                  <a:srgbClr val="7C3AED"/>
                </a:solidFill>
                <a:latin typeface="Microsoft YaHei"/>
                <a:ea typeface="Microsoft YaHei"/>
              </a:rPr>
              <a:t>v0.12</a:t>
            </a:r>
            <a:endParaRPr lang="zh-CN" sz="1500"/>
          </a:p>
        </p:txBody>
      </p:sp>
      <p:sp>
        <p:nvSpPr>
          <p:cNvPr id="28" name="Text"/>
          <p:cNvSpPr txBox="1"/>
          <p:nvPr/>
        </p:nvSpPr>
        <p:spPr>
          <a:xfrm>
            <a:off x="9966960" y="1316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Hybrid KG-RAG</a:t>
            </a:r>
            <a:endParaRPr lang="zh-CN" sz="1000"/>
          </a:p>
        </p:txBody>
      </p:sp>
      <p:sp>
        <p:nvSpPr>
          <p:cNvPr id="29" name="Text"/>
          <p:cNvSpPr txBox="1"/>
          <p:nvPr/>
        </p:nvSpPr>
        <p:spPr>
          <a:xfrm>
            <a:off x="9966960" y="1664208"/>
            <a:ext cx="1600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EvidenceContextPack：可信推荐、检索解释、迁移、阻断和缺证据上下文分离。</a:t>
            </a:r>
            <a:endParaRPr lang="zh-CN" sz="800"/>
          </a:p>
        </p:txBody>
      </p:sp>
      <p:sp>
        <p:nvSpPr>
          <p:cNvPr id="30" name="Text"/>
          <p:cNvSpPr txBox="1"/>
          <p:nvPr/>
        </p:nvSpPr>
        <p:spPr>
          <a:xfrm>
            <a:off x="621792" y="33101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封闭迁移评估指标演进</a:t>
            </a:r>
            <a:endParaRPr lang="zh-CN" sz="1400"/>
          </a:p>
        </p:txBody>
      </p:sp>
      <p:sp>
        <p:nvSpPr>
          <p:cNvPr id="31" name="Text"/>
          <p:cNvSpPr txBox="1"/>
          <p:nvPr/>
        </p:nvSpPr>
        <p:spPr>
          <a:xfrm>
            <a:off x="749808" y="3703320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v0.8</a:t>
            </a:r>
            <a:endParaRPr lang="zh-CN" sz="900"/>
          </a:p>
        </p:txBody>
      </p:sp>
      <p:sp>
        <p:nvSpPr>
          <p:cNvPr id="32" name="Text"/>
          <p:cNvSpPr txBox="1"/>
          <p:nvPr/>
        </p:nvSpPr>
        <p:spPr>
          <a:xfrm>
            <a:off x="1417320" y="368503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mixed decision</a:t>
            </a:r>
            <a:endParaRPr lang="zh-CN" sz="900"/>
          </a:p>
        </p:txBody>
      </p:sp>
      <p:sp>
        <p:nvSpPr>
          <p:cNvPr id="33" name="Shape"/>
          <p:cNvSpPr/>
          <p:nvPr/>
        </p:nvSpPr>
        <p:spPr>
          <a:xfrm>
            <a:off x="3794760" y="3721608"/>
            <a:ext cx="237744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4" name="Shape"/>
          <p:cNvSpPr/>
          <p:nvPr/>
        </p:nvSpPr>
        <p:spPr>
          <a:xfrm>
            <a:off x="3794760" y="3721608"/>
            <a:ext cx="2187245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5" name="Text"/>
          <p:cNvSpPr txBox="1"/>
          <p:nvPr/>
        </p:nvSpPr>
        <p:spPr>
          <a:xfrm>
            <a:off x="6245352" y="368503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92%</a:t>
            </a:r>
            <a:endParaRPr lang="zh-CN" sz="900"/>
          </a:p>
        </p:txBody>
      </p:sp>
      <p:sp>
        <p:nvSpPr>
          <p:cNvPr id="36" name="Text"/>
          <p:cNvSpPr txBox="1"/>
          <p:nvPr/>
        </p:nvSpPr>
        <p:spPr>
          <a:xfrm>
            <a:off x="4754880" y="368503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false migration</a:t>
            </a:r>
            <a:endParaRPr lang="zh-CN" sz="900"/>
          </a:p>
        </p:txBody>
      </p:sp>
      <p:sp>
        <p:nvSpPr>
          <p:cNvPr id="37" name="Shape"/>
          <p:cNvSpPr/>
          <p:nvPr/>
        </p:nvSpPr>
        <p:spPr>
          <a:xfrm>
            <a:off x="7132320" y="372160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8" name="Shape"/>
          <p:cNvSpPr/>
          <p:nvPr/>
        </p:nvSpPr>
        <p:spPr>
          <a:xfrm>
            <a:off x="7132320" y="3721608"/>
            <a:ext cx="71845" cy="14630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9" name="Text"/>
          <p:cNvSpPr txBox="1"/>
          <p:nvPr/>
        </p:nvSpPr>
        <p:spPr>
          <a:xfrm>
            <a:off x="9217152" y="368503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3.6%</a:t>
            </a:r>
            <a:endParaRPr lang="zh-CN" sz="900"/>
          </a:p>
        </p:txBody>
      </p:sp>
      <p:sp>
        <p:nvSpPr>
          <p:cNvPr id="40" name="Text"/>
          <p:cNvSpPr txBox="1"/>
          <p:nvPr/>
        </p:nvSpPr>
        <p:spPr>
          <a:xfrm>
            <a:off x="7818120" y="368503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high hallucination</a:t>
            </a:r>
            <a:endParaRPr lang="zh-CN" sz="900"/>
          </a:p>
        </p:txBody>
      </p:sp>
      <p:sp>
        <p:nvSpPr>
          <p:cNvPr id="41" name="Shape"/>
          <p:cNvSpPr/>
          <p:nvPr/>
        </p:nvSpPr>
        <p:spPr>
          <a:xfrm>
            <a:off x="10195560" y="372160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2" name="Shape"/>
          <p:cNvSpPr/>
          <p:nvPr/>
        </p:nvSpPr>
        <p:spPr>
          <a:xfrm>
            <a:off x="10195560" y="3721608"/>
            <a:ext cx="36576" cy="14630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3" name="Text"/>
          <p:cNvSpPr txBox="1"/>
          <p:nvPr/>
        </p:nvSpPr>
        <p:spPr>
          <a:xfrm>
            <a:off x="12280392" y="368503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900"/>
          </a:p>
        </p:txBody>
      </p:sp>
      <p:sp>
        <p:nvSpPr>
          <p:cNvPr id="44" name="Text"/>
          <p:cNvSpPr txBox="1"/>
          <p:nvPr/>
        </p:nvSpPr>
        <p:spPr>
          <a:xfrm>
            <a:off x="749808" y="4114800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v0.9</a:t>
            </a:r>
            <a:endParaRPr lang="zh-CN" sz="900"/>
          </a:p>
        </p:txBody>
      </p:sp>
      <p:sp>
        <p:nvSpPr>
          <p:cNvPr id="45" name="Text"/>
          <p:cNvSpPr txBox="1"/>
          <p:nvPr/>
        </p:nvSpPr>
        <p:spPr>
          <a:xfrm>
            <a:off x="1417320" y="409651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mixed decision</a:t>
            </a:r>
            <a:endParaRPr lang="zh-CN" sz="900"/>
          </a:p>
        </p:txBody>
      </p:sp>
      <p:sp>
        <p:nvSpPr>
          <p:cNvPr id="46" name="Shape"/>
          <p:cNvSpPr/>
          <p:nvPr/>
        </p:nvSpPr>
        <p:spPr>
          <a:xfrm>
            <a:off x="3794760" y="4133088"/>
            <a:ext cx="237744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7" name="Shape"/>
          <p:cNvSpPr/>
          <p:nvPr/>
        </p:nvSpPr>
        <p:spPr>
          <a:xfrm>
            <a:off x="3794760" y="4133088"/>
            <a:ext cx="1759306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8" name="Text"/>
          <p:cNvSpPr txBox="1"/>
          <p:nvPr/>
        </p:nvSpPr>
        <p:spPr>
          <a:xfrm>
            <a:off x="6245352" y="409651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74%</a:t>
            </a:r>
            <a:endParaRPr lang="zh-CN" sz="900"/>
          </a:p>
        </p:txBody>
      </p:sp>
      <p:sp>
        <p:nvSpPr>
          <p:cNvPr id="49" name="Text"/>
          <p:cNvSpPr txBox="1"/>
          <p:nvPr/>
        </p:nvSpPr>
        <p:spPr>
          <a:xfrm>
            <a:off x="4754880" y="409651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false migration</a:t>
            </a:r>
            <a:endParaRPr lang="zh-CN" sz="900"/>
          </a:p>
        </p:txBody>
      </p:sp>
      <p:sp>
        <p:nvSpPr>
          <p:cNvPr id="50" name="Shape"/>
          <p:cNvSpPr/>
          <p:nvPr/>
        </p:nvSpPr>
        <p:spPr>
          <a:xfrm>
            <a:off x="7132320" y="413308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1" name="Shape"/>
          <p:cNvSpPr/>
          <p:nvPr/>
        </p:nvSpPr>
        <p:spPr>
          <a:xfrm>
            <a:off x="7132320" y="4133088"/>
            <a:ext cx="71845" cy="14630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52" name="Text"/>
          <p:cNvSpPr txBox="1"/>
          <p:nvPr/>
        </p:nvSpPr>
        <p:spPr>
          <a:xfrm>
            <a:off x="9217152" y="409651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3.6%</a:t>
            </a:r>
            <a:endParaRPr lang="zh-CN" sz="900"/>
          </a:p>
        </p:txBody>
      </p:sp>
      <p:sp>
        <p:nvSpPr>
          <p:cNvPr id="53" name="Text"/>
          <p:cNvSpPr txBox="1"/>
          <p:nvPr/>
        </p:nvSpPr>
        <p:spPr>
          <a:xfrm>
            <a:off x="7818120" y="409651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high hallucination</a:t>
            </a:r>
            <a:endParaRPr lang="zh-CN" sz="900"/>
          </a:p>
        </p:txBody>
      </p:sp>
      <p:sp>
        <p:nvSpPr>
          <p:cNvPr id="54" name="Shape"/>
          <p:cNvSpPr/>
          <p:nvPr/>
        </p:nvSpPr>
        <p:spPr>
          <a:xfrm>
            <a:off x="10195560" y="413308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5" name="Shape"/>
          <p:cNvSpPr/>
          <p:nvPr/>
        </p:nvSpPr>
        <p:spPr>
          <a:xfrm>
            <a:off x="10195560" y="4133088"/>
            <a:ext cx="36576" cy="14630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6" name="Text"/>
          <p:cNvSpPr txBox="1"/>
          <p:nvPr/>
        </p:nvSpPr>
        <p:spPr>
          <a:xfrm>
            <a:off x="12280392" y="409651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0.3%</a:t>
            </a:r>
            <a:endParaRPr lang="zh-CN" sz="900"/>
          </a:p>
        </p:txBody>
      </p:sp>
      <p:sp>
        <p:nvSpPr>
          <p:cNvPr id="57" name="Text"/>
          <p:cNvSpPr txBox="1"/>
          <p:nvPr/>
        </p:nvSpPr>
        <p:spPr>
          <a:xfrm>
            <a:off x="749808" y="4526280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v0.10</a:t>
            </a:r>
            <a:endParaRPr lang="zh-CN" sz="900"/>
          </a:p>
        </p:txBody>
      </p:sp>
      <p:sp>
        <p:nvSpPr>
          <p:cNvPr id="58" name="Text"/>
          <p:cNvSpPr txBox="1"/>
          <p:nvPr/>
        </p:nvSpPr>
        <p:spPr>
          <a:xfrm>
            <a:off x="1417320" y="450799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mixed decision</a:t>
            </a:r>
            <a:endParaRPr lang="zh-CN" sz="900"/>
          </a:p>
        </p:txBody>
      </p:sp>
      <p:sp>
        <p:nvSpPr>
          <p:cNvPr id="59" name="Shape"/>
          <p:cNvSpPr/>
          <p:nvPr/>
        </p:nvSpPr>
        <p:spPr>
          <a:xfrm>
            <a:off x="3794760" y="4544568"/>
            <a:ext cx="237744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0" name="Shape"/>
          <p:cNvSpPr/>
          <p:nvPr/>
        </p:nvSpPr>
        <p:spPr>
          <a:xfrm>
            <a:off x="3794760" y="4544568"/>
            <a:ext cx="1854403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1" name="Text"/>
          <p:cNvSpPr txBox="1"/>
          <p:nvPr/>
        </p:nvSpPr>
        <p:spPr>
          <a:xfrm>
            <a:off x="6245352" y="450799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78%</a:t>
            </a:r>
            <a:endParaRPr lang="zh-CN" sz="900"/>
          </a:p>
        </p:txBody>
      </p:sp>
      <p:sp>
        <p:nvSpPr>
          <p:cNvPr id="62" name="Text"/>
          <p:cNvSpPr txBox="1"/>
          <p:nvPr/>
        </p:nvSpPr>
        <p:spPr>
          <a:xfrm>
            <a:off x="4754880" y="450799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false migration</a:t>
            </a:r>
            <a:endParaRPr lang="zh-CN" sz="900"/>
          </a:p>
        </p:txBody>
      </p:sp>
      <p:sp>
        <p:nvSpPr>
          <p:cNvPr id="63" name="Shape"/>
          <p:cNvSpPr/>
          <p:nvPr/>
        </p:nvSpPr>
        <p:spPr>
          <a:xfrm>
            <a:off x="7132320" y="454456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4" name="Shape"/>
          <p:cNvSpPr/>
          <p:nvPr/>
        </p:nvSpPr>
        <p:spPr>
          <a:xfrm>
            <a:off x="7132320" y="4544568"/>
            <a:ext cx="36576" cy="14630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65" name="Text"/>
          <p:cNvSpPr txBox="1"/>
          <p:nvPr/>
        </p:nvSpPr>
        <p:spPr>
          <a:xfrm>
            <a:off x="9217152" y="450799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900"/>
          </a:p>
        </p:txBody>
      </p:sp>
      <p:sp>
        <p:nvSpPr>
          <p:cNvPr id="66" name="Text"/>
          <p:cNvSpPr txBox="1"/>
          <p:nvPr/>
        </p:nvSpPr>
        <p:spPr>
          <a:xfrm>
            <a:off x="7818120" y="450799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high hallucination</a:t>
            </a:r>
            <a:endParaRPr lang="zh-CN" sz="900"/>
          </a:p>
        </p:txBody>
      </p:sp>
      <p:sp>
        <p:nvSpPr>
          <p:cNvPr id="67" name="Shape"/>
          <p:cNvSpPr/>
          <p:nvPr/>
        </p:nvSpPr>
        <p:spPr>
          <a:xfrm>
            <a:off x="10195560" y="454456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8" name="Shape"/>
          <p:cNvSpPr/>
          <p:nvPr/>
        </p:nvSpPr>
        <p:spPr>
          <a:xfrm>
            <a:off x="10195560" y="4544568"/>
            <a:ext cx="36576" cy="14630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9" name="Text"/>
          <p:cNvSpPr txBox="1"/>
          <p:nvPr/>
        </p:nvSpPr>
        <p:spPr>
          <a:xfrm>
            <a:off x="12280392" y="450799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900"/>
          </a:p>
        </p:txBody>
      </p:sp>
      <p:sp>
        <p:nvSpPr>
          <p:cNvPr id="70" name="Text"/>
          <p:cNvSpPr txBox="1"/>
          <p:nvPr/>
        </p:nvSpPr>
        <p:spPr>
          <a:xfrm>
            <a:off x="749808" y="4937760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v0.11</a:t>
            </a:r>
            <a:endParaRPr lang="zh-CN" sz="900"/>
          </a:p>
        </p:txBody>
      </p:sp>
      <p:sp>
        <p:nvSpPr>
          <p:cNvPr id="71" name="Text"/>
          <p:cNvSpPr txBox="1"/>
          <p:nvPr/>
        </p:nvSpPr>
        <p:spPr>
          <a:xfrm>
            <a:off x="1417320" y="491947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mixed decision</a:t>
            </a:r>
            <a:endParaRPr lang="zh-CN" sz="900"/>
          </a:p>
        </p:txBody>
      </p:sp>
      <p:sp>
        <p:nvSpPr>
          <p:cNvPr id="72" name="Shape"/>
          <p:cNvSpPr/>
          <p:nvPr/>
        </p:nvSpPr>
        <p:spPr>
          <a:xfrm>
            <a:off x="3794760" y="4956048"/>
            <a:ext cx="237744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3" name="Shape"/>
          <p:cNvSpPr/>
          <p:nvPr/>
        </p:nvSpPr>
        <p:spPr>
          <a:xfrm>
            <a:off x="3794760" y="4956048"/>
            <a:ext cx="1901952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4" name="Text"/>
          <p:cNvSpPr txBox="1"/>
          <p:nvPr/>
        </p:nvSpPr>
        <p:spPr>
          <a:xfrm>
            <a:off x="6245352" y="491947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80%</a:t>
            </a:r>
            <a:endParaRPr lang="zh-CN" sz="900"/>
          </a:p>
        </p:txBody>
      </p:sp>
      <p:sp>
        <p:nvSpPr>
          <p:cNvPr id="75" name="Text"/>
          <p:cNvSpPr txBox="1"/>
          <p:nvPr/>
        </p:nvSpPr>
        <p:spPr>
          <a:xfrm>
            <a:off x="4754880" y="491947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false migration</a:t>
            </a:r>
            <a:endParaRPr lang="zh-CN" sz="900"/>
          </a:p>
        </p:txBody>
      </p:sp>
      <p:sp>
        <p:nvSpPr>
          <p:cNvPr id="76" name="Shape"/>
          <p:cNvSpPr/>
          <p:nvPr/>
        </p:nvSpPr>
        <p:spPr>
          <a:xfrm>
            <a:off x="7132320" y="495604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7" name="Shape"/>
          <p:cNvSpPr/>
          <p:nvPr/>
        </p:nvSpPr>
        <p:spPr>
          <a:xfrm>
            <a:off x="7132320" y="4956048"/>
            <a:ext cx="118335" cy="14630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78" name="Text"/>
          <p:cNvSpPr txBox="1"/>
          <p:nvPr/>
        </p:nvSpPr>
        <p:spPr>
          <a:xfrm>
            <a:off x="9217152" y="491947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5.9%</a:t>
            </a:r>
            <a:endParaRPr lang="zh-CN" sz="900"/>
          </a:p>
        </p:txBody>
      </p:sp>
      <p:sp>
        <p:nvSpPr>
          <p:cNvPr id="79" name="Text"/>
          <p:cNvSpPr txBox="1"/>
          <p:nvPr/>
        </p:nvSpPr>
        <p:spPr>
          <a:xfrm>
            <a:off x="7818120" y="491947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high hallucination</a:t>
            </a:r>
            <a:endParaRPr lang="zh-CN" sz="900"/>
          </a:p>
        </p:txBody>
      </p:sp>
      <p:sp>
        <p:nvSpPr>
          <p:cNvPr id="80" name="Shape"/>
          <p:cNvSpPr/>
          <p:nvPr/>
        </p:nvSpPr>
        <p:spPr>
          <a:xfrm>
            <a:off x="10195560" y="495604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1" name="Shape"/>
          <p:cNvSpPr/>
          <p:nvPr/>
        </p:nvSpPr>
        <p:spPr>
          <a:xfrm>
            <a:off x="10195560" y="4956048"/>
            <a:ext cx="36576" cy="14630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82" name="Text"/>
          <p:cNvSpPr txBox="1"/>
          <p:nvPr/>
        </p:nvSpPr>
        <p:spPr>
          <a:xfrm>
            <a:off x="12280392" y="491947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900"/>
          </a:p>
        </p:txBody>
      </p:sp>
      <p:sp>
        <p:nvSpPr>
          <p:cNvPr id="83" name="Text"/>
          <p:cNvSpPr txBox="1"/>
          <p:nvPr/>
        </p:nvSpPr>
        <p:spPr>
          <a:xfrm>
            <a:off x="749808" y="5349240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v0.12</a:t>
            </a:r>
            <a:endParaRPr lang="zh-CN" sz="900"/>
          </a:p>
        </p:txBody>
      </p:sp>
      <p:sp>
        <p:nvSpPr>
          <p:cNvPr id="84" name="Text"/>
          <p:cNvSpPr txBox="1"/>
          <p:nvPr/>
        </p:nvSpPr>
        <p:spPr>
          <a:xfrm>
            <a:off x="1417320" y="533095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mixed decision</a:t>
            </a:r>
            <a:endParaRPr lang="zh-CN" sz="900"/>
          </a:p>
        </p:txBody>
      </p:sp>
      <p:sp>
        <p:nvSpPr>
          <p:cNvPr id="85" name="Shape"/>
          <p:cNvSpPr/>
          <p:nvPr/>
        </p:nvSpPr>
        <p:spPr>
          <a:xfrm>
            <a:off x="3794760" y="5367528"/>
            <a:ext cx="237744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6" name="Shape"/>
          <p:cNvSpPr/>
          <p:nvPr/>
        </p:nvSpPr>
        <p:spPr>
          <a:xfrm>
            <a:off x="3794760" y="5367528"/>
            <a:ext cx="2377440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7" name="Text"/>
          <p:cNvSpPr txBox="1"/>
          <p:nvPr/>
        </p:nvSpPr>
        <p:spPr>
          <a:xfrm>
            <a:off x="6245352" y="533095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100%</a:t>
            </a:r>
            <a:endParaRPr lang="zh-CN" sz="900"/>
          </a:p>
        </p:txBody>
      </p:sp>
      <p:sp>
        <p:nvSpPr>
          <p:cNvPr id="88" name="Text"/>
          <p:cNvSpPr txBox="1"/>
          <p:nvPr/>
        </p:nvSpPr>
        <p:spPr>
          <a:xfrm>
            <a:off x="4754880" y="533095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false migration</a:t>
            </a:r>
            <a:endParaRPr lang="zh-CN" sz="900"/>
          </a:p>
        </p:txBody>
      </p:sp>
      <p:sp>
        <p:nvSpPr>
          <p:cNvPr id="89" name="Shape"/>
          <p:cNvSpPr/>
          <p:nvPr/>
        </p:nvSpPr>
        <p:spPr>
          <a:xfrm>
            <a:off x="7132320" y="536752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90" name="Shape"/>
          <p:cNvSpPr/>
          <p:nvPr/>
        </p:nvSpPr>
        <p:spPr>
          <a:xfrm>
            <a:off x="7132320" y="5367528"/>
            <a:ext cx="36576" cy="14630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1" name="Text"/>
          <p:cNvSpPr txBox="1"/>
          <p:nvPr/>
        </p:nvSpPr>
        <p:spPr>
          <a:xfrm>
            <a:off x="9217152" y="533095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900"/>
          </a:p>
        </p:txBody>
      </p:sp>
      <p:sp>
        <p:nvSpPr>
          <p:cNvPr id="92" name="Text"/>
          <p:cNvSpPr txBox="1"/>
          <p:nvPr/>
        </p:nvSpPr>
        <p:spPr>
          <a:xfrm>
            <a:off x="7818120" y="5330952"/>
            <a:ext cx="2240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high hallucination</a:t>
            </a:r>
            <a:endParaRPr lang="zh-CN" sz="900"/>
          </a:p>
        </p:txBody>
      </p:sp>
      <p:sp>
        <p:nvSpPr>
          <p:cNvPr id="93" name="Shape"/>
          <p:cNvSpPr/>
          <p:nvPr/>
        </p:nvSpPr>
        <p:spPr>
          <a:xfrm>
            <a:off x="10195560" y="5367528"/>
            <a:ext cx="2011680" cy="14630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94" name="Shape"/>
          <p:cNvSpPr/>
          <p:nvPr/>
        </p:nvSpPr>
        <p:spPr>
          <a:xfrm>
            <a:off x="10195560" y="5367528"/>
            <a:ext cx="36576" cy="14630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5" name="Text"/>
          <p:cNvSpPr txBox="1"/>
          <p:nvPr/>
        </p:nvSpPr>
        <p:spPr>
          <a:xfrm>
            <a:off x="12280392" y="5330952"/>
            <a:ext cx="658368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900"/>
          </a:p>
        </p:txBody>
      </p:sp>
      <p:sp>
        <p:nvSpPr>
          <p:cNvPr id="96" name="Text"/>
          <p:cNvSpPr txBox="1"/>
          <p:nvPr/>
        </p:nvSpPr>
        <p:spPr>
          <a:xfrm>
            <a:off x="658368" y="5833872"/>
            <a:ext cx="10835640" cy="43891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anchor="t" lIns="73152" rIns="73152" tIns="73152" bIns="73152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解读：v0.9-v0.11 的封闭集不是“刷榜”，而是把失败模式暴露出来并纳入下一版本治理；v0.12 在 35 条 full offline set 上达到混合决策 100%、高危幻觉 0、未审迁移路径 0。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Header title"/>
          <p:cNvSpPr txBox="1"/>
          <p:nvPr/>
        </p:nvSpPr>
        <p:spPr>
          <a:xfrm>
            <a:off x="347472" y="20116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F172A"/>
                </a:solidFill>
                <a:latin typeface="Microsoft YaHei"/>
                <a:ea typeface="Microsoft YaHei"/>
              </a:rPr>
              <a:t>实验结果与阶段性成就</a:t>
            </a:r>
            <a:endParaRPr lang="zh-CN" sz="2200"/>
          </a:p>
        </p:txBody>
      </p:sp>
      <p:sp>
        <p:nvSpPr>
          <p:cNvPr id="4" name="Text"/>
          <p:cNvSpPr txBox="1"/>
          <p:nvPr/>
        </p:nvSpPr>
        <p:spPr>
          <a:xfrm>
            <a:off x="8412480" y="228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证据链路显著降低 unsupported claims</a:t>
            </a:r>
            <a:endParaRPr lang="zh-CN" sz="900"/>
          </a:p>
        </p:txBody>
      </p:sp>
      <p:sp>
        <p:nvSpPr>
          <p:cNvPr id="5" name="Text"/>
          <p:cNvSpPr txBox="1"/>
          <p:nvPr/>
        </p:nvSpPr>
        <p:spPr>
          <a:xfrm>
            <a:off x="11247120" y="21945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07/08</a:t>
            </a:r>
            <a:endParaRPr lang="zh-CN" sz="1000"/>
          </a:p>
        </p:txBody>
      </p:sp>
      <p:sp>
        <p:nvSpPr>
          <p:cNvPr id="6" name="Text"/>
          <p:cNvSpPr txBox="1"/>
          <p:nvPr/>
        </p:nvSpPr>
        <p:spPr>
          <a:xfrm>
            <a:off x="530352" y="868680"/>
            <a:ext cx="1901952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7" name="Shape"/>
          <p:cNvSpPr/>
          <p:nvPr/>
        </p:nvSpPr>
        <p:spPr>
          <a:xfrm>
            <a:off x="530352" y="86868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694944" y="9784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2563EB"/>
                </a:solidFill>
                <a:latin typeface="Microsoft YaHei"/>
                <a:ea typeface="Microsoft YaHei"/>
              </a:rPr>
              <a:t>35</a:t>
            </a:r>
            <a:endParaRPr lang="zh-CN" sz="2200"/>
          </a:p>
        </p:txBody>
      </p:sp>
      <p:sp>
        <p:nvSpPr>
          <p:cNvPr id="9" name="Text"/>
          <p:cNvSpPr txBox="1"/>
          <p:nvPr/>
        </p:nvSpPr>
        <p:spPr>
          <a:xfrm>
            <a:off x="694944" y="1353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v0.12 gold queries</a:t>
            </a:r>
            <a:endParaRPr lang="zh-CN" sz="1000"/>
          </a:p>
        </p:txBody>
      </p:sp>
      <p:sp>
        <p:nvSpPr>
          <p:cNvPr id="10" name="Text"/>
          <p:cNvSpPr txBox="1"/>
          <p:nvPr/>
        </p:nvSpPr>
        <p:spPr>
          <a:xfrm>
            <a:off x="2615184" y="868680"/>
            <a:ext cx="1901952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1" name="Shape"/>
          <p:cNvSpPr/>
          <p:nvPr/>
        </p:nvSpPr>
        <p:spPr>
          <a:xfrm>
            <a:off x="2615184" y="868680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2779776" y="9784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 lang="zh-CN" sz="2200"/>
          </a:p>
        </p:txBody>
      </p:sp>
      <p:sp>
        <p:nvSpPr>
          <p:cNvPr id="13" name="Text"/>
          <p:cNvSpPr txBox="1"/>
          <p:nvPr/>
        </p:nvSpPr>
        <p:spPr>
          <a:xfrm>
            <a:off x="2779776" y="1353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mixed decision accuracy</a:t>
            </a:r>
            <a:endParaRPr lang="zh-CN" sz="1000"/>
          </a:p>
        </p:txBody>
      </p:sp>
      <p:sp>
        <p:nvSpPr>
          <p:cNvPr id="14" name="Text"/>
          <p:cNvSpPr txBox="1"/>
          <p:nvPr/>
        </p:nvSpPr>
        <p:spPr>
          <a:xfrm>
            <a:off x="4700016" y="868680"/>
            <a:ext cx="1901952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5" name="Shape"/>
          <p:cNvSpPr/>
          <p:nvPr/>
        </p:nvSpPr>
        <p:spPr>
          <a:xfrm>
            <a:off x="4700016" y="868680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4864608" y="9784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DC2626"/>
                </a:solidFill>
                <a:latin typeface="Microsoft YaHei"/>
                <a:ea typeface="Microsoft YaHei"/>
              </a:rPr>
              <a:t>0%</a:t>
            </a:r>
            <a:endParaRPr lang="zh-CN" sz="2200"/>
          </a:p>
        </p:txBody>
      </p:sp>
      <p:sp>
        <p:nvSpPr>
          <p:cNvPr id="17" name="Text"/>
          <p:cNvSpPr txBox="1"/>
          <p:nvPr/>
        </p:nvSpPr>
        <p:spPr>
          <a:xfrm>
            <a:off x="4864608" y="1353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false migration rate</a:t>
            </a:r>
            <a:endParaRPr lang="zh-CN" sz="1000"/>
          </a:p>
        </p:txBody>
      </p:sp>
      <p:sp>
        <p:nvSpPr>
          <p:cNvPr id="18" name="Text"/>
          <p:cNvSpPr txBox="1"/>
          <p:nvPr/>
        </p:nvSpPr>
        <p:spPr>
          <a:xfrm>
            <a:off x="6784848" y="868680"/>
            <a:ext cx="1901952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9" name="Shape"/>
          <p:cNvSpPr/>
          <p:nvPr/>
        </p:nvSpPr>
        <p:spPr>
          <a:xfrm>
            <a:off x="6784848" y="868680"/>
            <a:ext cx="73152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6949440" y="9784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7C3AED"/>
                </a:solidFill>
                <a:latin typeface="Microsoft YaHei"/>
                <a:ea typeface="Microsoft YaHei"/>
              </a:rPr>
              <a:t>100%</a:t>
            </a:r>
            <a:endParaRPr lang="zh-CN" sz="2200"/>
          </a:p>
        </p:txBody>
      </p:sp>
      <p:sp>
        <p:nvSpPr>
          <p:cNvPr id="21" name="Text"/>
          <p:cNvSpPr txBox="1"/>
          <p:nvPr/>
        </p:nvSpPr>
        <p:spPr>
          <a:xfrm>
            <a:off x="6949440" y="1353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semantic audit pass</a:t>
            </a:r>
            <a:endParaRPr lang="zh-CN" sz="1000"/>
          </a:p>
        </p:txBody>
      </p:sp>
      <p:sp>
        <p:nvSpPr>
          <p:cNvPr id="22" name="Text"/>
          <p:cNvSpPr txBox="1"/>
          <p:nvPr/>
        </p:nvSpPr>
        <p:spPr>
          <a:xfrm>
            <a:off x="8869680" y="868680"/>
            <a:ext cx="1901952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45720" rIns="45720" tIns="45720" bIns="4572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23" name="Shape"/>
          <p:cNvSpPr/>
          <p:nvPr/>
        </p:nvSpPr>
        <p:spPr>
          <a:xfrm>
            <a:off x="8869680" y="868680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9034272" y="9784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D97706"/>
                </a:solidFill>
                <a:latin typeface="Microsoft YaHei"/>
                <a:ea typeface="Microsoft YaHei"/>
              </a:rPr>
              <a:t>0%</a:t>
            </a:r>
            <a:endParaRPr lang="zh-CN" sz="2200"/>
          </a:p>
        </p:txBody>
      </p:sp>
      <p:sp>
        <p:nvSpPr>
          <p:cNvPr id="25" name="Text"/>
          <p:cNvSpPr txBox="1"/>
          <p:nvPr/>
        </p:nvSpPr>
        <p:spPr>
          <a:xfrm>
            <a:off x="9034272" y="1353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unsupported tool claims</a:t>
            </a:r>
            <a:endParaRPr lang="zh-CN" sz="1000"/>
          </a:p>
        </p:txBody>
      </p:sp>
      <p:sp>
        <p:nvSpPr>
          <p:cNvPr id="26" name="Text"/>
          <p:cNvSpPr txBox="1"/>
          <p:nvPr/>
        </p:nvSpPr>
        <p:spPr>
          <a:xfrm>
            <a:off x="621792" y="199339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消融对照：Pure LLM vs evidence-gated/audited route</a:t>
            </a:r>
            <a:endParaRPr lang="zh-CN" sz="1400"/>
          </a:p>
        </p:txBody>
      </p:sp>
      <p:sp>
        <p:nvSpPr>
          <p:cNvPr id="27" name="Text"/>
          <p:cNvSpPr txBox="1"/>
          <p:nvPr/>
        </p:nvSpPr>
        <p:spPr>
          <a:xfrm>
            <a:off x="749808" y="2468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推荐类型准确率</a:t>
            </a:r>
            <a:endParaRPr lang="zh-CN" sz="900"/>
          </a:p>
        </p:txBody>
      </p:sp>
      <p:sp>
        <p:nvSpPr>
          <p:cNvPr id="28" name="Text"/>
          <p:cNvSpPr txBox="1"/>
          <p:nvPr/>
        </p:nvSpPr>
        <p:spPr>
          <a:xfrm>
            <a:off x="2606040" y="2468880"/>
            <a:ext cx="658368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Pure LLM</a:t>
            </a:r>
            <a:endParaRPr lang="zh-CN" sz="800"/>
          </a:p>
        </p:txBody>
      </p:sp>
      <p:sp>
        <p:nvSpPr>
          <p:cNvPr id="29" name="Shape"/>
          <p:cNvSpPr/>
          <p:nvPr/>
        </p:nvSpPr>
        <p:spPr>
          <a:xfrm>
            <a:off x="3273552" y="2496312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0" name="Shape"/>
          <p:cNvSpPr/>
          <p:nvPr/>
        </p:nvSpPr>
        <p:spPr>
          <a:xfrm>
            <a:off x="3273552" y="2496312"/>
            <a:ext cx="762000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5175504" y="24505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41.7%</a:t>
            </a:r>
            <a:endParaRPr lang="zh-CN" sz="800"/>
          </a:p>
        </p:txBody>
      </p:sp>
      <p:sp>
        <p:nvSpPr>
          <p:cNvPr id="32" name="Text"/>
          <p:cNvSpPr txBox="1"/>
          <p:nvPr/>
        </p:nvSpPr>
        <p:spPr>
          <a:xfrm>
            <a:off x="5897880" y="2468880"/>
            <a:ext cx="77724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Gate+Audit</a:t>
            </a:r>
            <a:endParaRPr lang="zh-CN" sz="800"/>
          </a:p>
        </p:txBody>
      </p:sp>
      <p:sp>
        <p:nvSpPr>
          <p:cNvPr id="33" name="Shape"/>
          <p:cNvSpPr/>
          <p:nvPr/>
        </p:nvSpPr>
        <p:spPr>
          <a:xfrm>
            <a:off x="6720840" y="2496312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4" name="Shape"/>
          <p:cNvSpPr/>
          <p:nvPr/>
        </p:nvSpPr>
        <p:spPr>
          <a:xfrm>
            <a:off x="6720840" y="2496312"/>
            <a:ext cx="1524000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5" name="Text"/>
          <p:cNvSpPr txBox="1"/>
          <p:nvPr/>
        </p:nvSpPr>
        <p:spPr>
          <a:xfrm>
            <a:off x="8622792" y="24505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0F172A"/>
                </a:solidFill>
                <a:latin typeface="Microsoft YaHei"/>
                <a:ea typeface="Microsoft YaHei"/>
              </a:rPr>
              <a:t>83.3%</a:t>
            </a:r>
            <a:endParaRPr lang="zh-CN" sz="800"/>
          </a:p>
        </p:txBody>
      </p:sp>
      <p:sp>
        <p:nvSpPr>
          <p:cNvPr id="36" name="Text"/>
          <p:cNvSpPr txBox="1"/>
          <p:nvPr/>
        </p:nvSpPr>
        <p:spPr>
          <a:xfrm>
            <a:off x="749808" y="29443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Top-k hit</a:t>
            </a:r>
            <a:endParaRPr lang="zh-CN" sz="900"/>
          </a:p>
        </p:txBody>
      </p:sp>
      <p:sp>
        <p:nvSpPr>
          <p:cNvPr id="37" name="Text"/>
          <p:cNvSpPr txBox="1"/>
          <p:nvPr/>
        </p:nvSpPr>
        <p:spPr>
          <a:xfrm>
            <a:off x="2606040" y="2944368"/>
            <a:ext cx="658368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Pure LLM</a:t>
            </a:r>
            <a:endParaRPr lang="zh-CN" sz="800"/>
          </a:p>
        </p:txBody>
      </p:sp>
      <p:sp>
        <p:nvSpPr>
          <p:cNvPr id="38" name="Shape"/>
          <p:cNvSpPr/>
          <p:nvPr/>
        </p:nvSpPr>
        <p:spPr>
          <a:xfrm>
            <a:off x="3273552" y="2971800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9" name="Shape"/>
          <p:cNvSpPr/>
          <p:nvPr/>
        </p:nvSpPr>
        <p:spPr>
          <a:xfrm>
            <a:off x="3273552" y="2971800"/>
            <a:ext cx="914400" cy="12801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0" name="Text"/>
          <p:cNvSpPr txBox="1"/>
          <p:nvPr/>
        </p:nvSpPr>
        <p:spPr>
          <a:xfrm>
            <a:off x="5175504" y="292608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50.0%</a:t>
            </a:r>
            <a:endParaRPr lang="zh-CN" sz="800"/>
          </a:p>
        </p:txBody>
      </p:sp>
      <p:sp>
        <p:nvSpPr>
          <p:cNvPr id="41" name="Text"/>
          <p:cNvSpPr txBox="1"/>
          <p:nvPr/>
        </p:nvSpPr>
        <p:spPr>
          <a:xfrm>
            <a:off x="5897880" y="2944368"/>
            <a:ext cx="77724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Gate+Audit</a:t>
            </a:r>
            <a:endParaRPr lang="zh-CN" sz="800"/>
          </a:p>
        </p:txBody>
      </p:sp>
      <p:sp>
        <p:nvSpPr>
          <p:cNvPr id="42" name="Shape"/>
          <p:cNvSpPr/>
          <p:nvPr/>
        </p:nvSpPr>
        <p:spPr>
          <a:xfrm>
            <a:off x="6720840" y="2971800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3" name="Shape"/>
          <p:cNvSpPr/>
          <p:nvPr/>
        </p:nvSpPr>
        <p:spPr>
          <a:xfrm>
            <a:off x="6720840" y="2971800"/>
            <a:ext cx="1676400" cy="12801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8622792" y="292608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0F172A"/>
                </a:solidFill>
                <a:latin typeface="Microsoft YaHei"/>
                <a:ea typeface="Microsoft YaHei"/>
              </a:rPr>
              <a:t>91.7%</a:t>
            </a:r>
            <a:endParaRPr lang="zh-CN" sz="800"/>
          </a:p>
        </p:txBody>
      </p:sp>
      <p:sp>
        <p:nvSpPr>
          <p:cNvPr id="45" name="Text"/>
          <p:cNvSpPr txBox="1"/>
          <p:nvPr/>
        </p:nvSpPr>
        <p:spPr>
          <a:xfrm>
            <a:off x="749808" y="34198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语义幻觉 issue rate</a:t>
            </a:r>
            <a:endParaRPr lang="zh-CN" sz="900"/>
          </a:p>
        </p:txBody>
      </p:sp>
      <p:sp>
        <p:nvSpPr>
          <p:cNvPr id="46" name="Text"/>
          <p:cNvSpPr txBox="1"/>
          <p:nvPr/>
        </p:nvSpPr>
        <p:spPr>
          <a:xfrm>
            <a:off x="2606040" y="3419856"/>
            <a:ext cx="658368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Pure LLM</a:t>
            </a:r>
            <a:endParaRPr lang="zh-CN" sz="800"/>
          </a:p>
        </p:txBody>
      </p:sp>
      <p:sp>
        <p:nvSpPr>
          <p:cNvPr id="47" name="Shape"/>
          <p:cNvSpPr/>
          <p:nvPr/>
        </p:nvSpPr>
        <p:spPr>
          <a:xfrm>
            <a:off x="3273552" y="3447288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8" name="Shape"/>
          <p:cNvSpPr/>
          <p:nvPr/>
        </p:nvSpPr>
        <p:spPr>
          <a:xfrm>
            <a:off x="3273552" y="3447288"/>
            <a:ext cx="546363" cy="1280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5175504" y="34015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29.9%</a:t>
            </a:r>
            <a:endParaRPr lang="zh-CN" sz="800"/>
          </a:p>
        </p:txBody>
      </p:sp>
      <p:sp>
        <p:nvSpPr>
          <p:cNvPr id="50" name="Text"/>
          <p:cNvSpPr txBox="1"/>
          <p:nvPr/>
        </p:nvSpPr>
        <p:spPr>
          <a:xfrm>
            <a:off x="5897880" y="3419856"/>
            <a:ext cx="77724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Gate+Audit</a:t>
            </a:r>
            <a:endParaRPr lang="zh-CN" sz="800"/>
          </a:p>
        </p:txBody>
      </p:sp>
      <p:sp>
        <p:nvSpPr>
          <p:cNvPr id="51" name="Shape"/>
          <p:cNvSpPr/>
          <p:nvPr/>
        </p:nvSpPr>
        <p:spPr>
          <a:xfrm>
            <a:off x="6720840" y="3447288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2" name="Shape"/>
          <p:cNvSpPr/>
          <p:nvPr/>
        </p:nvSpPr>
        <p:spPr>
          <a:xfrm>
            <a:off x="6720840" y="3447288"/>
            <a:ext cx="36576" cy="1280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8622792" y="34015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800"/>
          </a:p>
        </p:txBody>
      </p:sp>
      <p:sp>
        <p:nvSpPr>
          <p:cNvPr id="54" name="Text"/>
          <p:cNvSpPr txBox="1"/>
          <p:nvPr/>
        </p:nvSpPr>
        <p:spPr>
          <a:xfrm>
            <a:off x="749808" y="389534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0F172A"/>
                </a:solidFill>
                <a:latin typeface="Microsoft YaHei"/>
                <a:ea typeface="Microsoft YaHei"/>
              </a:rPr>
              <a:t>Unsupported tool claim</a:t>
            </a:r>
            <a:endParaRPr lang="zh-CN" sz="900"/>
          </a:p>
        </p:txBody>
      </p:sp>
      <p:sp>
        <p:nvSpPr>
          <p:cNvPr id="55" name="Text"/>
          <p:cNvSpPr txBox="1"/>
          <p:nvPr/>
        </p:nvSpPr>
        <p:spPr>
          <a:xfrm>
            <a:off x="2606040" y="3895344"/>
            <a:ext cx="658368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Pure LLM</a:t>
            </a:r>
            <a:endParaRPr lang="zh-CN" sz="800"/>
          </a:p>
        </p:txBody>
      </p:sp>
      <p:sp>
        <p:nvSpPr>
          <p:cNvPr id="56" name="Shape"/>
          <p:cNvSpPr/>
          <p:nvPr/>
        </p:nvSpPr>
        <p:spPr>
          <a:xfrm>
            <a:off x="3273552" y="3922776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7" name="Shape"/>
          <p:cNvSpPr/>
          <p:nvPr/>
        </p:nvSpPr>
        <p:spPr>
          <a:xfrm>
            <a:off x="3273552" y="3922776"/>
            <a:ext cx="333889" cy="12801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8" name="Text"/>
          <p:cNvSpPr txBox="1"/>
          <p:nvPr/>
        </p:nvSpPr>
        <p:spPr>
          <a:xfrm>
            <a:off x="5175504" y="387705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18.3%</a:t>
            </a:r>
            <a:endParaRPr lang="zh-CN" sz="800"/>
          </a:p>
        </p:txBody>
      </p:sp>
      <p:sp>
        <p:nvSpPr>
          <p:cNvPr id="59" name="Text"/>
          <p:cNvSpPr txBox="1"/>
          <p:nvPr/>
        </p:nvSpPr>
        <p:spPr>
          <a:xfrm>
            <a:off x="5897880" y="3895344"/>
            <a:ext cx="77724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475569"/>
                </a:solidFill>
                <a:latin typeface="Microsoft YaHei"/>
                <a:ea typeface="Microsoft YaHei"/>
              </a:rPr>
              <a:t>Gate+Audit</a:t>
            </a:r>
            <a:endParaRPr lang="zh-CN" sz="800"/>
          </a:p>
        </p:txBody>
      </p:sp>
      <p:sp>
        <p:nvSpPr>
          <p:cNvPr id="60" name="Shape"/>
          <p:cNvSpPr/>
          <p:nvPr/>
        </p:nvSpPr>
        <p:spPr>
          <a:xfrm>
            <a:off x="6720840" y="3922776"/>
            <a:ext cx="1828800" cy="12801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1" name="Shape"/>
          <p:cNvSpPr/>
          <p:nvPr/>
        </p:nvSpPr>
        <p:spPr>
          <a:xfrm>
            <a:off x="6720840" y="3922776"/>
            <a:ext cx="36576" cy="12801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2" name="Text"/>
          <p:cNvSpPr txBox="1"/>
          <p:nvPr/>
        </p:nvSpPr>
        <p:spPr>
          <a:xfrm>
            <a:off x="8622792" y="387705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800">
                <a:solidFill>
                  <a:srgbClr val="0F172A"/>
                </a:solidFill>
                <a:latin typeface="Microsoft YaHei"/>
                <a:ea typeface="Microsoft YaHei"/>
              </a:rPr>
              <a:t>0.0%</a:t>
            </a:r>
            <a:endParaRPr lang="zh-CN" sz="800"/>
          </a:p>
        </p:txBody>
      </p:sp>
      <p:sp>
        <p:nvSpPr>
          <p:cNvPr id="63" name="Text"/>
          <p:cNvSpPr txBox="1"/>
          <p:nvPr/>
        </p:nvSpPr>
        <p:spPr>
          <a:xfrm>
            <a:off x="621792" y="4617720"/>
            <a:ext cx="10972800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64" name="Shape"/>
          <p:cNvSpPr/>
          <p:nvPr/>
        </p:nvSpPr>
        <p:spPr>
          <a:xfrm>
            <a:off x="621792" y="4617720"/>
            <a:ext cx="73152" cy="1243584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5" name="Text"/>
          <p:cNvSpPr txBox="1"/>
          <p:nvPr/>
        </p:nvSpPr>
        <p:spPr>
          <a:xfrm>
            <a:off x="822960" y="4773168"/>
            <a:ext cx="10652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阶段性成就</a:t>
            </a:r>
            <a:endParaRPr lang="zh-CN" sz="1400"/>
          </a:p>
        </p:txBody>
      </p:sp>
      <p:sp>
        <p:nvSpPr>
          <p:cNvPr id="66" name="Text"/>
          <p:cNvSpPr txBox="1"/>
          <p:nvPr/>
        </p:nvSpPr>
        <p:spPr>
          <a:xfrm>
            <a:off x="822960" y="5184648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v0.12 ContextPack audit：35/35 pass，context_pack_present_rate 100%。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平均 retrieval evidence 9.37 条，formal RAG snippet 3.46 条。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retrieval rankable violations、trusted non-main violations、bad migration-decision violations 均为 0。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Full KG pipeline 达到 workflow completeness 100%，体现工作流组织能力。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Header title"/>
          <p:cNvSpPr txBox="1"/>
          <p:nvPr/>
        </p:nvSpPr>
        <p:spPr>
          <a:xfrm>
            <a:off x="347472" y="20116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2200" b="1">
                <a:solidFill>
                  <a:srgbClr val="0F172A"/>
                </a:solidFill>
                <a:latin typeface="Microsoft YaHei"/>
                <a:ea typeface="Microsoft YaHei"/>
              </a:rPr>
              <a:t>下一步工作与实验设计</a:t>
            </a:r>
            <a:endParaRPr lang="zh-CN" sz="2200"/>
          </a:p>
        </p:txBody>
      </p:sp>
      <p:sp>
        <p:nvSpPr>
          <p:cNvPr id="4" name="Text"/>
          <p:cNvSpPr txBox="1"/>
          <p:nvPr/>
        </p:nvSpPr>
        <p:spPr>
          <a:xfrm>
            <a:off x="8412480" y="228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补证据、稳评估、做小规模实证</a:t>
            </a:r>
            <a:endParaRPr lang="zh-CN" sz="900"/>
          </a:p>
        </p:txBody>
      </p:sp>
      <p:sp>
        <p:nvSpPr>
          <p:cNvPr id="5" name="Text"/>
          <p:cNvSpPr txBox="1"/>
          <p:nvPr/>
        </p:nvSpPr>
        <p:spPr>
          <a:xfrm>
            <a:off x="11247120" y="21945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475569"/>
                </a:solidFill>
                <a:latin typeface="Microsoft YaHei"/>
                <a:ea typeface="Microsoft YaHei"/>
              </a:rPr>
              <a:t>08/08</a:t>
            </a:r>
            <a:endParaRPr lang="zh-CN" sz="1000"/>
          </a:p>
        </p:txBody>
      </p:sp>
      <p:sp>
        <p:nvSpPr>
          <p:cNvPr id="6" name="Text"/>
          <p:cNvSpPr txBox="1"/>
          <p:nvPr/>
        </p:nvSpPr>
        <p:spPr>
          <a:xfrm>
            <a:off x="530352" y="868680"/>
            <a:ext cx="370332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7" name="Shape"/>
          <p:cNvSpPr/>
          <p:nvPr/>
        </p:nvSpPr>
        <p:spPr>
          <a:xfrm>
            <a:off x="530352" y="86868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731520" y="102412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1. 证据质量优先</a:t>
            </a:r>
            <a:endParaRPr lang="zh-CN" sz="1400"/>
          </a:p>
        </p:txBody>
      </p:sp>
      <p:sp>
        <p:nvSpPr>
          <p:cNvPr id="9" name="Text"/>
          <p:cNvSpPr txBox="1"/>
          <p:nvPr/>
        </p:nvSpPr>
        <p:spPr>
          <a:xfrm>
            <a:off x="731520" y="1435608"/>
            <a:ext cx="3383280" cy="1490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完成 P1 benchmark canonical_group_review：补 work_group_id、PMID、canonical_scope。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清理正式表中 candidate-origin 标记，保持字段顺序与 evidence_schemas.py 同步。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扩展高优先任务的 publication/benchmark evidence，但继续走候选生成→人审→正式晋升。</a:t>
            </a:r>
            <a:endParaRPr lang="zh-CN" sz="1000"/>
          </a:p>
        </p:txBody>
      </p:sp>
      <p:sp>
        <p:nvSpPr>
          <p:cNvPr id="10" name="Text"/>
          <p:cNvSpPr txBox="1"/>
          <p:nvPr/>
        </p:nvSpPr>
        <p:spPr>
          <a:xfrm>
            <a:off x="4425696" y="868680"/>
            <a:ext cx="370332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1" name="Shape"/>
          <p:cNvSpPr/>
          <p:nvPr/>
        </p:nvSpPr>
        <p:spPr>
          <a:xfrm>
            <a:off x="4425696" y="868680"/>
            <a:ext cx="73152" cy="214884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4626864" y="102412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2. 评估体系扩展</a:t>
            </a:r>
            <a:endParaRPr lang="zh-CN" sz="1400"/>
          </a:p>
        </p:txBody>
      </p:sp>
      <p:sp>
        <p:nvSpPr>
          <p:cNvPr id="13" name="Text"/>
          <p:cNvSpPr txBox="1"/>
          <p:nvPr/>
        </p:nvSpPr>
        <p:spPr>
          <a:xfrm>
            <a:off x="4626864" y="1435608"/>
            <a:ext cx="3383280" cy="1490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为 annotation、integration、spatial deconvolution、RNA velocity、multiome 建 task-specific blind sets。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固定指标：constraint parse、top-k hit、evidence coverage、workflow completeness、audit pass/block rate。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每个版本保留 sealed first run，失败转入下一版本修复，避免后验调参。</a:t>
            </a:r>
            <a:endParaRPr lang="zh-CN" sz="1000"/>
          </a:p>
        </p:txBody>
      </p:sp>
      <p:sp>
        <p:nvSpPr>
          <p:cNvPr id="14" name="Text"/>
          <p:cNvSpPr txBox="1"/>
          <p:nvPr/>
        </p:nvSpPr>
        <p:spPr>
          <a:xfrm>
            <a:off x="8321040" y="86868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36576" rIns="36576" tIns="36576" bIns="36576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80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endParaRPr lang="zh-CN" sz="1800"/>
          </a:p>
        </p:txBody>
      </p:sp>
      <p:sp>
        <p:nvSpPr>
          <p:cNvPr id="15" name="Shape"/>
          <p:cNvSpPr/>
          <p:nvPr/>
        </p:nvSpPr>
        <p:spPr>
          <a:xfrm>
            <a:off x="8321040" y="868680"/>
            <a:ext cx="73152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8522208" y="1024128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3. 迁移假设实证</a:t>
            </a:r>
            <a:endParaRPr lang="zh-CN" sz="1400"/>
          </a:p>
        </p:txBody>
      </p:sp>
      <p:sp>
        <p:nvSpPr>
          <p:cNvPr id="17" name="Text"/>
          <p:cNvSpPr txBox="1"/>
          <p:nvPr/>
        </p:nvSpPr>
        <p:spPr>
          <a:xfrm>
            <a:off x="8522208" y="1435608"/>
            <a:ext cx="3017520" cy="1490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挑选 3-5 个 accept_exploratory 迁移路径做小样本 case study。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实验设计：source mechanism baseline、direct tool baseline、ablation(vector/graph/RAG)、专家复核。</a:t>
            </a:r>
            <a:endParaRPr lang="zh-CN" sz="1000"/>
          </a:p>
          <a:p>
            <a:pPr algn="l">
              <a:spcBef>
                <a:spcPts val="500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• 输出只声明 system-level plausibility；生物学有效性必须经独立验证。</a:t>
            </a:r>
            <a:endParaRPr lang="zh-CN" sz="1000"/>
          </a:p>
        </p:txBody>
      </p:sp>
      <p:sp>
        <p:nvSpPr>
          <p:cNvPr id="18" name="Text"/>
          <p:cNvSpPr txBox="1"/>
          <p:nvPr/>
        </p:nvSpPr>
        <p:spPr>
          <a:xfrm>
            <a:off x="621792" y="34381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</a:rPr>
              <a:t>近期里程碑建议</a:t>
            </a:r>
            <a:endParaRPr lang="zh-CN" sz="1400"/>
          </a:p>
        </p:txBody>
      </p:sp>
      <p:sp>
        <p:nvSpPr>
          <p:cNvPr id="19" name="Text"/>
          <p:cNvSpPr txBox="1"/>
          <p:nvPr/>
        </p:nvSpPr>
        <p:spPr>
          <a:xfrm>
            <a:off x="749808" y="3822192"/>
            <a:ext cx="438912" cy="2377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M1</a:t>
            </a:r>
            <a:endParaRPr lang="zh-CN" sz="900"/>
          </a:p>
        </p:txBody>
      </p:sp>
      <p:sp>
        <p:nvSpPr>
          <p:cNvPr id="20" name="Text"/>
          <p:cNvSpPr txBox="1"/>
          <p:nvPr/>
        </p:nvSpPr>
        <p:spPr>
          <a:xfrm>
            <a:off x="1298448" y="3822192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2563EB"/>
                </a:solidFill>
                <a:latin typeface="Microsoft YaHei"/>
                <a:ea typeface="Microsoft YaHei"/>
              </a:rPr>
              <a:t>证据治理</a:t>
            </a:r>
            <a:endParaRPr lang="zh-CN" sz="1000"/>
          </a:p>
        </p:txBody>
      </p:sp>
      <p:sp>
        <p:nvSpPr>
          <p:cNvPr id="21" name="Text"/>
          <p:cNvSpPr txBox="1"/>
          <p:nvPr/>
        </p:nvSpPr>
        <p:spPr>
          <a:xfrm>
            <a:off x="2487168" y="3822192"/>
            <a:ext cx="8823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完成 KG quality P1/P2 review actions；形成 reviewed evidence promotion checklist。</a:t>
            </a:r>
            <a:endParaRPr lang="zh-CN" sz="1000"/>
          </a:p>
        </p:txBody>
      </p:sp>
      <p:sp>
        <p:nvSpPr>
          <p:cNvPr id="22" name="Text"/>
          <p:cNvSpPr txBox="1"/>
          <p:nvPr/>
        </p:nvSpPr>
        <p:spPr>
          <a:xfrm>
            <a:off x="749808" y="4334256"/>
            <a:ext cx="438912" cy="23774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M2</a:t>
            </a:r>
            <a:endParaRPr lang="zh-CN" sz="900"/>
          </a:p>
        </p:txBody>
      </p:sp>
      <p:sp>
        <p:nvSpPr>
          <p:cNvPr id="23" name="Text"/>
          <p:cNvSpPr txBox="1"/>
          <p:nvPr/>
        </p:nvSpPr>
        <p:spPr>
          <a:xfrm>
            <a:off x="1298448" y="4334256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59669"/>
                </a:solidFill>
                <a:latin typeface="Microsoft YaHei"/>
                <a:ea typeface="Microsoft YaHei"/>
              </a:rPr>
              <a:t>报告可靠性</a:t>
            </a:r>
            <a:endParaRPr lang="zh-CN" sz="1000"/>
          </a:p>
        </p:txBody>
      </p:sp>
      <p:sp>
        <p:nvSpPr>
          <p:cNvPr id="24" name="Text"/>
          <p:cNvSpPr txBox="1"/>
          <p:nvPr/>
        </p:nvSpPr>
        <p:spPr>
          <a:xfrm>
            <a:off x="2487168" y="4334256"/>
            <a:ext cx="8823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把 ContextPack audit 接入常规 smoke eval；critical/high issue 默认阻断。</a:t>
            </a:r>
            <a:endParaRPr lang="zh-CN" sz="1000"/>
          </a:p>
        </p:txBody>
      </p:sp>
      <p:sp>
        <p:nvSpPr>
          <p:cNvPr id="25" name="Text"/>
          <p:cNvSpPr txBox="1"/>
          <p:nvPr/>
        </p:nvSpPr>
        <p:spPr>
          <a:xfrm>
            <a:off x="749808" y="4846320"/>
            <a:ext cx="438912" cy="23774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M3</a:t>
            </a:r>
            <a:endParaRPr lang="zh-CN" sz="900"/>
          </a:p>
        </p:txBody>
      </p:sp>
      <p:sp>
        <p:nvSpPr>
          <p:cNvPr id="26" name="Text"/>
          <p:cNvSpPr txBox="1"/>
          <p:nvPr/>
        </p:nvSpPr>
        <p:spPr>
          <a:xfrm>
            <a:off x="1298448" y="4846320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D97706"/>
                </a:solidFill>
                <a:latin typeface="Microsoft YaHei"/>
                <a:ea typeface="Microsoft YaHei"/>
              </a:rPr>
              <a:t>实验验证</a:t>
            </a:r>
            <a:endParaRPr lang="zh-CN" sz="1000"/>
          </a:p>
        </p:txBody>
      </p:sp>
      <p:sp>
        <p:nvSpPr>
          <p:cNvPr id="27" name="Text"/>
          <p:cNvSpPr txBox="1"/>
          <p:nvPr/>
        </p:nvSpPr>
        <p:spPr>
          <a:xfrm>
            <a:off x="2487168" y="4846320"/>
            <a:ext cx="8823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发布一组任务级 blind gold set + 迁移 case study notebook/report。</a:t>
            </a:r>
            <a:endParaRPr lang="zh-CN" sz="1000"/>
          </a:p>
        </p:txBody>
      </p:sp>
      <p:sp>
        <p:nvSpPr>
          <p:cNvPr id="28" name="Text"/>
          <p:cNvSpPr txBox="1"/>
          <p:nvPr/>
        </p:nvSpPr>
        <p:spPr>
          <a:xfrm>
            <a:off x="749808" y="5358384"/>
            <a:ext cx="438912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M4</a:t>
            </a:r>
            <a:endParaRPr lang="zh-CN" sz="900"/>
          </a:p>
        </p:txBody>
      </p:sp>
      <p:sp>
        <p:nvSpPr>
          <p:cNvPr id="29" name="Text"/>
          <p:cNvSpPr txBox="1"/>
          <p:nvPr/>
        </p:nvSpPr>
        <p:spPr>
          <a:xfrm>
            <a:off x="1298448" y="5358384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7C3AED"/>
                </a:solidFill>
                <a:latin typeface="Microsoft YaHei"/>
                <a:ea typeface="Microsoft YaHei"/>
              </a:rPr>
              <a:t>产品表达</a:t>
            </a:r>
            <a:endParaRPr lang="zh-CN" sz="1000"/>
          </a:p>
        </p:txBody>
      </p:sp>
      <p:sp>
        <p:nvSpPr>
          <p:cNvPr id="30" name="Text"/>
          <p:cNvSpPr txBox="1"/>
          <p:nvPr/>
        </p:nvSpPr>
        <p:spPr>
          <a:xfrm>
            <a:off x="2487168" y="5358384"/>
            <a:ext cx="8823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lnSpc>
                <a:spcPct val="105000"/>
              </a:lnSpc>
            </a:pPr>
            <a:r>
              <a:rPr lang="zh-CN" sz="1000">
                <a:solidFill>
                  <a:srgbClr val="334155"/>
                </a:solidFill>
                <a:latin typeface="Microsoft YaHei"/>
                <a:ea typeface="Microsoft YaHei"/>
              </a:rPr>
              <a:t>UI 展示证据来源、missing evidence、审计状态、迁移 caveat；不展示误导性大盘指标。</a:t>
            </a:r>
            <a:endParaRPr lang="zh-CN" sz="1000"/>
          </a:p>
        </p:txBody>
      </p:sp>
      <p:sp>
        <p:nvSpPr>
          <p:cNvPr id="31" name="Text"/>
          <p:cNvSpPr txBox="1"/>
          <p:nvPr/>
        </p:nvSpPr>
        <p:spPr>
          <a:xfrm>
            <a:off x="658368" y="5870448"/>
            <a:ext cx="10835640" cy="438912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anchor="t" lIns="73152" rIns="73152" tIns="73152" bIns="73152"/>
          <a:lstStyle/>
          <a:p>
            <a:pPr algn="c">
              <a:spcBef>
                <a:spcPts val="0"/>
              </a:spcBef>
              <a:lnSpc>
                <a:spcPct val="105000"/>
              </a:lnSpc>
            </a:pPr>
            <a:r>
              <a:rPr lang="zh-CN" sz="1000" b="1">
                <a:solidFill>
                  <a:srgbClr val="0F172A"/>
                </a:solidFill>
                <a:latin typeface="Microsoft YaHei"/>
                <a:ea typeface="Microsoft YaHei"/>
              </a:rPr>
              <a:t>边界条件：下一阶段仍不自动晋升候选证据、不让 RAG 改 ranking、不让 memory 成为科学证据；执行 Agent 只在 sandbox、allowlist 和用户显式批准后逐级推进。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KG Agent">
  <a:themeElements>
    <a:clrScheme name="scKG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cKG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scKG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Builder</Application>
  <PresentationFormat>On-screen Show (16:9)</PresentationFormat>
  <Slides>8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scKG-Atlas Agent 项目介绍</dc:title>
  <dc:creator>Codex</dc:creator>
  <cp:lastModifiedBy>Codex</cp:lastModifiedBy>
  <dcterms:created xsi:type="dcterms:W3CDTF">2026-05-24T12:44:17Z</dcterms:created>
  <dcterms:modified xsi:type="dcterms:W3CDTF">2026-05-24T12:44:17Z</dcterms:modified>
</cp:coreProperties>
</file>